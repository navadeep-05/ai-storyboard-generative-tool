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9"/>
  </p:notesMasterIdLst>
  <p:handoutMasterIdLst>
    <p:handoutMasterId r:id="rId40"/>
  </p:handoutMasterIdLst>
  <p:sldIdLst>
    <p:sldId id="287" r:id="rId2"/>
    <p:sldId id="295" r:id="rId3"/>
    <p:sldId id="296" r:id="rId4"/>
    <p:sldId id="297" r:id="rId5"/>
    <p:sldId id="318" r:id="rId6"/>
    <p:sldId id="298" r:id="rId7"/>
    <p:sldId id="299" r:id="rId8"/>
    <p:sldId id="300" r:id="rId9"/>
    <p:sldId id="301" r:id="rId10"/>
    <p:sldId id="302" r:id="rId11"/>
    <p:sldId id="303" r:id="rId12"/>
    <p:sldId id="306" r:id="rId13"/>
    <p:sldId id="304" r:id="rId14"/>
    <p:sldId id="330" r:id="rId15"/>
    <p:sldId id="331" r:id="rId16"/>
    <p:sldId id="332" r:id="rId17"/>
    <p:sldId id="305" r:id="rId18"/>
    <p:sldId id="307" r:id="rId19"/>
    <p:sldId id="308" r:id="rId20"/>
    <p:sldId id="309" r:id="rId21"/>
    <p:sldId id="310" r:id="rId22"/>
    <p:sldId id="311" r:id="rId23"/>
    <p:sldId id="312" r:id="rId24"/>
    <p:sldId id="313" r:id="rId25"/>
    <p:sldId id="315" r:id="rId26"/>
    <p:sldId id="314" r:id="rId27"/>
    <p:sldId id="319" r:id="rId28"/>
    <p:sldId id="320" r:id="rId29"/>
    <p:sldId id="321" r:id="rId30"/>
    <p:sldId id="322" r:id="rId31"/>
    <p:sldId id="323" r:id="rId32"/>
    <p:sldId id="324" r:id="rId33"/>
    <p:sldId id="325" r:id="rId34"/>
    <p:sldId id="326" r:id="rId35"/>
    <p:sldId id="329" r:id="rId36"/>
    <p:sldId id="333" r:id="rId37"/>
    <p:sldId id="294" r:id="rId38"/>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56" autoAdjust="0"/>
    <p:restoredTop sz="94624" autoAdjust="0"/>
  </p:normalViewPr>
  <p:slideViewPr>
    <p:cSldViewPr snapToGrid="0" showGuides="1">
      <p:cViewPr varScale="1">
        <p:scale>
          <a:sx n="42" d="100"/>
          <a:sy n="42" d="100"/>
        </p:scale>
        <p:origin x="43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62" d="100"/>
          <a:sy n="62"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ela Krishna Jakkamsetti" userId="5e76d4019c5c0216" providerId="LiveId" clId="{37FE2F99-BDAA-4AF3-88FC-4C6B7613D1E7}"/>
    <pc:docChg chg="modSld">
      <pc:chgData name="Leela Krishna Jakkamsetti" userId="5e76d4019c5c0216" providerId="LiveId" clId="{37FE2F99-BDAA-4AF3-88FC-4C6B7613D1E7}" dt="2025-05-03T06:28:28.828" v="35" actId="20577"/>
      <pc:docMkLst>
        <pc:docMk/>
      </pc:docMkLst>
      <pc:sldChg chg="modSp mod">
        <pc:chgData name="Leela Krishna Jakkamsetti" userId="5e76d4019c5c0216" providerId="LiveId" clId="{37FE2F99-BDAA-4AF3-88FC-4C6B7613D1E7}" dt="2025-05-03T06:28:28.828" v="35" actId="20577"/>
        <pc:sldMkLst>
          <pc:docMk/>
          <pc:sldMk cId="0" sldId="287"/>
        </pc:sldMkLst>
        <pc:spChg chg="mod">
          <ac:chgData name="Leela Krishna Jakkamsetti" userId="5e76d4019c5c0216" providerId="LiveId" clId="{37FE2F99-BDAA-4AF3-88FC-4C6B7613D1E7}" dt="2025-04-17T12:27:38.416" v="0" actId="20577"/>
          <ac:spMkLst>
            <pc:docMk/>
            <pc:sldMk cId="0" sldId="287"/>
            <ac:spMk id="31" creationId="{00000000-0000-0000-0000-000000000000}"/>
          </ac:spMkLst>
        </pc:spChg>
        <pc:spChg chg="mod">
          <ac:chgData name="Leela Krishna Jakkamsetti" userId="5e76d4019c5c0216" providerId="LiveId" clId="{37FE2F99-BDAA-4AF3-88FC-4C6B7613D1E7}" dt="2025-05-03T06:28:28.828" v="35" actId="20577"/>
          <ac:spMkLst>
            <pc:docMk/>
            <pc:sldMk cId="0" sldId="287"/>
            <ac:spMk id="34" creationId="{00000000-0000-0000-0000-000000000000}"/>
          </ac:spMkLst>
        </pc:spChg>
      </pc:sldChg>
      <pc:sldChg chg="modSp mod">
        <pc:chgData name="Leela Krishna Jakkamsetti" userId="5e76d4019c5c0216" providerId="LiveId" clId="{37FE2F99-BDAA-4AF3-88FC-4C6B7613D1E7}" dt="2025-04-18T04:18:48.189" v="1" actId="1036"/>
        <pc:sldMkLst>
          <pc:docMk/>
          <pc:sldMk cId="0" sldId="308"/>
        </pc:sldMkLst>
        <pc:picChg chg="mod">
          <ac:chgData name="Leela Krishna Jakkamsetti" userId="5e76d4019c5c0216" providerId="LiveId" clId="{37FE2F99-BDAA-4AF3-88FC-4C6B7613D1E7}" dt="2025-04-18T04:18:48.189" v="1" actId="1036"/>
          <ac:picMkLst>
            <pc:docMk/>
            <pc:sldMk cId="0" sldId="308"/>
            <ac:picMk id="9" creationId="{74B910EE-CA0F-76BB-8EF2-EB0BE8C94180}"/>
          </ac:picMkLst>
        </pc:picChg>
      </pc:sldChg>
      <pc:sldChg chg="modSp mod">
        <pc:chgData name="Leela Krishna Jakkamsetti" userId="5e76d4019c5c0216" providerId="LiveId" clId="{37FE2F99-BDAA-4AF3-88FC-4C6B7613D1E7}" dt="2025-04-18T04:58:47.451" v="23" actId="1036"/>
        <pc:sldMkLst>
          <pc:docMk/>
          <pc:sldMk cId="0" sldId="309"/>
        </pc:sldMkLst>
        <pc:picChg chg="mod">
          <ac:chgData name="Leela Krishna Jakkamsetti" userId="5e76d4019c5c0216" providerId="LiveId" clId="{37FE2F99-BDAA-4AF3-88FC-4C6B7613D1E7}" dt="2025-04-18T04:58:47.451" v="23" actId="1036"/>
          <ac:picMkLst>
            <pc:docMk/>
            <pc:sldMk cId="0" sldId="309"/>
            <ac:picMk id="9" creationId="{CA1D0B30-C139-6BBE-6464-B1771D71FAE8}"/>
          </ac:picMkLst>
        </pc:picChg>
      </pc:sldChg>
      <pc:sldChg chg="modSp mod">
        <pc:chgData name="Leela Krishna Jakkamsetti" userId="5e76d4019c5c0216" providerId="LiveId" clId="{37FE2F99-BDAA-4AF3-88FC-4C6B7613D1E7}" dt="2025-04-18T06:27:05.810" v="29" actId="1076"/>
        <pc:sldMkLst>
          <pc:docMk/>
          <pc:sldMk cId="0" sldId="311"/>
        </pc:sldMkLst>
        <pc:picChg chg="mod">
          <ac:chgData name="Leela Krishna Jakkamsetti" userId="5e76d4019c5c0216" providerId="LiveId" clId="{37FE2F99-BDAA-4AF3-88FC-4C6B7613D1E7}" dt="2025-04-18T06:27:05.810" v="29" actId="1076"/>
          <ac:picMkLst>
            <pc:docMk/>
            <pc:sldMk cId="0" sldId="311"/>
            <ac:picMk id="6" creationId="{00000000-0000-0000-0000-000000000000}"/>
          </ac:picMkLst>
        </pc:picChg>
      </pc:sldChg>
      <pc:sldChg chg="modSp mod">
        <pc:chgData name="Leela Krishna Jakkamsetti" userId="5e76d4019c5c0216" providerId="LiveId" clId="{37FE2F99-BDAA-4AF3-88FC-4C6B7613D1E7}" dt="2025-04-18T04:49:56.658" v="21" actId="1035"/>
        <pc:sldMkLst>
          <pc:docMk/>
          <pc:sldMk cId="0" sldId="312"/>
        </pc:sldMkLst>
        <pc:picChg chg="mod">
          <ac:chgData name="Leela Krishna Jakkamsetti" userId="5e76d4019c5c0216" providerId="LiveId" clId="{37FE2F99-BDAA-4AF3-88FC-4C6B7613D1E7}" dt="2025-04-18T04:49:56.658" v="21" actId="1035"/>
          <ac:picMkLst>
            <pc:docMk/>
            <pc:sldMk cId="0" sldId="312"/>
            <ac:picMk id="6"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6"/>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76B784-4FB6-471C-91EA-1AAA7047F172}" type="slidenum">
              <a:rPr lang="en-IN" smtClean="0"/>
              <a:t>‹#›</a:t>
            </a:fld>
            <a:endParaRPr lang="en-IN"/>
          </a:p>
        </p:txBody>
      </p:sp>
      <p:sp>
        <p:nvSpPr>
          <p:cNvPr id="9" name="Header Placeholder 8"/>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dirty="0" err="1"/>
              <a:t>xvs</a:t>
            </a:r>
            <a:endParaRPr lang="en-IN" dirty="0"/>
          </a:p>
        </p:txBody>
      </p:sp>
      <p:sp>
        <p:nvSpPr>
          <p:cNvPr id="12" name="Date Placeholder 11"/>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F12033-2EDF-405D-A660-8698D41E1567}" type="datetime1">
              <a:rPr lang="en-US" smtClean="0"/>
              <a:t>5/3/2025</a:t>
            </a:fld>
            <a:endParaRPr lang="en-IN"/>
          </a:p>
        </p:txBody>
      </p:sp>
      <p:sp>
        <p:nvSpPr>
          <p:cNvPr id="14" name="Footer Placeholder 1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SAD</a:t>
            </a:r>
          </a:p>
        </p:txBody>
      </p:sp>
    </p:spTree>
    <p:extLst>
      <p:ext uri="{BB962C8B-B14F-4D97-AF65-F5344CB8AC3E}">
        <p14:creationId xmlns:p14="http://schemas.microsoft.com/office/powerpoint/2010/main" val="290114306"/>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86210308"/>
      </p:ext>
    </p:extLst>
  </p:cSld>
  <p:clrMap bg1="lt1" tx1="dk1" bg2="dk2" tx2="lt2" accent1="accent1" accent2="accent2" accent3="accent3" accent4="accent4" accent5="accent5" accent6="accent6" hlink="hlink" folHlink="folHlink"/>
  <p:hf hdr="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Tree>
    <p:extLst>
      <p:ext uri="{BB962C8B-B14F-4D97-AF65-F5344CB8AC3E}">
        <p14:creationId xmlns:p14="http://schemas.microsoft.com/office/powerpoint/2010/main" val="901128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dirty="0"/>
          </a:p>
        </p:txBody>
      </p:sp>
    </p:spTree>
    <p:extLst>
      <p:ext uri="{BB962C8B-B14F-4D97-AF65-F5344CB8AC3E}">
        <p14:creationId xmlns:p14="http://schemas.microsoft.com/office/powerpoint/2010/main" val="33324707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81196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45920" y="1138428"/>
            <a:ext cx="15087600" cy="5349240"/>
          </a:xfrm>
        </p:spPr>
        <p:txBody>
          <a:bodyPr anchor="b">
            <a:normAutofit/>
          </a:bodyPr>
          <a:lstStyle>
            <a:lvl1pPr algn="l">
              <a:lnSpc>
                <a:spcPct val="85000"/>
              </a:lnSpc>
              <a:defRPr sz="12000" spc="-75"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650077" y="6683430"/>
            <a:ext cx="15087600" cy="1714500"/>
          </a:xfrm>
        </p:spPr>
        <p:txBody>
          <a:bodyPr lIns="91440" rIns="91440">
            <a:normAutofit/>
          </a:bodyPr>
          <a:lstStyle>
            <a:lvl1pPr marL="0" indent="0" algn="l">
              <a:buNone/>
              <a:defRPr sz="3600" cap="all" spc="300" baseline="0">
                <a:solidFill>
                  <a:schemeClr val="tx2"/>
                </a:solidFill>
                <a:latin typeface="+mj-lt"/>
              </a:defRPr>
            </a:lvl1pPr>
            <a:lvl2pPr marL="685800" indent="0" algn="ctr">
              <a:buNone/>
              <a:defRPr sz="3600"/>
            </a:lvl2pPr>
            <a:lvl3pPr marL="1371600" indent="0" algn="ctr">
              <a:buNone/>
              <a:defRPr sz="36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DDDCE8-D81E-4F7A-AE83-87060A434701}" type="datetime4">
              <a:rPr lang="en-US" smtClean="0"/>
              <a:t>May 3, 2025</a:t>
            </a:fld>
            <a:endParaRPr lang="en-US"/>
          </a:p>
        </p:txBody>
      </p:sp>
      <p:sp>
        <p:nvSpPr>
          <p:cNvPr id="5" name="Footer Placeholder 4"/>
          <p:cNvSpPr>
            <a:spLocks noGrp="1"/>
          </p:cNvSpPr>
          <p:nvPr>
            <p:ph type="ftr" sz="quarter" idx="11"/>
          </p:nvPr>
        </p:nvSpPr>
        <p:spPr/>
        <p:txBody>
          <a:bodyPr/>
          <a:lstStyle/>
          <a:p>
            <a:r>
              <a:rPr lang="en-US"/>
              <a:t>DEPARTMENT OF ARTIFICIAL  INTELLIGENCE &amp; DATA SCIENCE / AI STORYBOARD GENERATOR</a:t>
            </a:r>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267014-97F0-4984-9CDF-6BEABE9BECE7}" type="datetime4">
              <a:rPr lang="en-US" smtClean="0"/>
              <a:t>May 3, 2025</a:t>
            </a:fld>
            <a:endParaRPr lang="en-US"/>
          </a:p>
        </p:txBody>
      </p:sp>
      <p:sp>
        <p:nvSpPr>
          <p:cNvPr id="5" name="Footer Placeholder 4"/>
          <p:cNvSpPr>
            <a:spLocks noGrp="1"/>
          </p:cNvSpPr>
          <p:nvPr>
            <p:ph type="ftr" sz="quarter" idx="11"/>
          </p:nvPr>
        </p:nvSpPr>
        <p:spPr/>
        <p:txBody>
          <a:bodyPr/>
          <a:lstStyle/>
          <a:p>
            <a:r>
              <a:rPr lang="en-US"/>
              <a:t>DEPARTMENT OF ARTIFICIAL  INTELLIGENCE &amp; DATA SCIENCE / AI STORYBOARD GENERATOR</a:t>
            </a:r>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1138428"/>
            <a:ext cx="15087600" cy="5349240"/>
          </a:xfrm>
        </p:spPr>
        <p:txBody>
          <a:bodyPr anchor="b" anchorCtr="0">
            <a:normAutofit/>
          </a:bodyPr>
          <a:lstStyle>
            <a:lvl1pPr>
              <a:lnSpc>
                <a:spcPct val="85000"/>
              </a:lnSpc>
              <a:defRPr sz="12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45920" y="6679692"/>
            <a:ext cx="15087600" cy="1714500"/>
          </a:xfrm>
        </p:spPr>
        <p:txBody>
          <a:bodyPr lIns="91440" rIns="91440" anchor="t" anchorCtr="0">
            <a:normAutofit/>
          </a:bodyPr>
          <a:lstStyle>
            <a:lvl1pPr marL="0" indent="0">
              <a:buNone/>
              <a:defRPr sz="3600" cap="all" spc="300" baseline="0">
                <a:solidFill>
                  <a:schemeClr val="tx2"/>
                </a:solidFill>
                <a:latin typeface="+mj-lt"/>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9571C1-AA55-454B-8BD7-94C07FB8CD5A}" type="datetime4">
              <a:rPr lang="en-US" smtClean="0"/>
              <a:t>May 3, 2025</a:t>
            </a:fld>
            <a:endParaRPr lang="en-US"/>
          </a:p>
        </p:txBody>
      </p:sp>
      <p:sp>
        <p:nvSpPr>
          <p:cNvPr id="5" name="Footer Placeholder 4"/>
          <p:cNvSpPr>
            <a:spLocks noGrp="1"/>
          </p:cNvSpPr>
          <p:nvPr>
            <p:ph type="ftr" sz="quarter" idx="11"/>
          </p:nvPr>
        </p:nvSpPr>
        <p:spPr/>
        <p:txBody>
          <a:bodyPr/>
          <a:lstStyle/>
          <a:p>
            <a:r>
              <a:rPr lang="en-US"/>
              <a:t>DEPARTMENT OF ARTIFICIAL  INTELLIGENCE &amp; DATA SCIENCE / AI STORYBOARD GENERATOR</a:t>
            </a:r>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645919" y="2768601"/>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26880" y="2768603"/>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C06B76-8C91-4952-AF36-F96A0AAD8247}" type="datetime4">
              <a:rPr lang="en-US" smtClean="0"/>
              <a:t>May 3, 2025</a:t>
            </a:fld>
            <a:endParaRPr lang="en-US"/>
          </a:p>
        </p:txBody>
      </p:sp>
      <p:sp>
        <p:nvSpPr>
          <p:cNvPr id="6" name="Footer Placeholder 5"/>
          <p:cNvSpPr>
            <a:spLocks noGrp="1"/>
          </p:cNvSpPr>
          <p:nvPr>
            <p:ph type="ftr" sz="quarter" idx="11"/>
          </p:nvPr>
        </p:nvSpPr>
        <p:spPr/>
        <p:txBody>
          <a:bodyPr/>
          <a:lstStyle/>
          <a:p>
            <a:r>
              <a:rPr lang="en-US"/>
              <a:t>DEPARTMENT OF ARTIFICIAL  INTELLIGENCE &amp; DATA SCIENCE / AI STORYBOARD GENERATOR</a:t>
            </a:r>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4592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64592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2688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32688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D6C7333A-E7D4-4576-8EDA-8BB3B19A1238}" type="datetime4">
              <a:rPr lang="en-US" smtClean="0"/>
              <a:t>May 3, 2025</a:t>
            </a:fld>
            <a:endParaRPr lang="en-US"/>
          </a:p>
        </p:txBody>
      </p:sp>
      <p:sp>
        <p:nvSpPr>
          <p:cNvPr id="11" name="Footer Placeholder 10"/>
          <p:cNvSpPr>
            <a:spLocks noGrp="1"/>
          </p:cNvSpPr>
          <p:nvPr>
            <p:ph type="ftr" sz="quarter" idx="11"/>
          </p:nvPr>
        </p:nvSpPr>
        <p:spPr/>
        <p:txBody>
          <a:bodyPr/>
          <a:lstStyle/>
          <a:p>
            <a:r>
              <a:rPr lang="en-US"/>
              <a:t>DEPARTMENT OF ARTIFICIAL  INTELLIGENCE &amp; DATA SCIENCE / AI STORYBOARD GENERATOR</a:t>
            </a:r>
            <a:endParaRPr lang="en-IN"/>
          </a:p>
        </p:txBody>
      </p:sp>
      <p:sp>
        <p:nvSpPr>
          <p:cNvPr id="12" name="Slide Number Placeholder 1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792A4A-F604-4121-8C83-4E723DF5FF77}" type="datetime4">
              <a:rPr lang="en-US" smtClean="0"/>
              <a:t>May 3, 2025</a:t>
            </a:fld>
            <a:endParaRPr lang="en-US"/>
          </a:p>
        </p:txBody>
      </p:sp>
      <p:sp>
        <p:nvSpPr>
          <p:cNvPr id="4" name="Footer Placeholder 3"/>
          <p:cNvSpPr>
            <a:spLocks noGrp="1"/>
          </p:cNvSpPr>
          <p:nvPr>
            <p:ph type="ftr" sz="quarter" idx="11"/>
          </p:nvPr>
        </p:nvSpPr>
        <p:spPr/>
        <p:txBody>
          <a:bodyPr/>
          <a:lstStyle/>
          <a:p>
            <a:r>
              <a:rPr lang="en-US"/>
              <a:t>DEPARTMENT OF ARTIFICIAL  INTELLIGENCE &amp; DATA SCIENCE / AI STORYBOARD GENERATOR</a:t>
            </a:r>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53E589C2-F769-4115-9FD9-D2F2B6B39956}"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5" y="0"/>
            <a:ext cx="6076187"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060107" y="0"/>
            <a:ext cx="96012"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891538"/>
            <a:ext cx="4800600" cy="3429000"/>
          </a:xfrm>
        </p:spPr>
        <p:txBody>
          <a:bodyPr anchor="b">
            <a:normAutofit/>
          </a:bodyPr>
          <a:lstStyle>
            <a:lvl1pPr>
              <a:defRPr sz="5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200900" y="1097280"/>
            <a:ext cx="9738360" cy="7886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4389120"/>
            <a:ext cx="4800600" cy="5068686"/>
          </a:xfrm>
        </p:spPr>
        <p:txBody>
          <a:bodyPr lIns="91440" rIns="91440">
            <a:normAutofit/>
          </a:bodyPr>
          <a:lstStyle>
            <a:lvl1pPr marL="0" indent="0">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a:xfrm>
            <a:off x="698268" y="9689678"/>
            <a:ext cx="3927765" cy="547688"/>
          </a:xfrm>
        </p:spPr>
        <p:txBody>
          <a:bodyPr/>
          <a:lstStyle>
            <a:lvl1pPr algn="l">
              <a:defRPr/>
            </a:lvl1pPr>
          </a:lstStyle>
          <a:p>
            <a:fld id="{4FA787A0-81D4-4C6F-B3DE-CA57E2F8C1D6}" type="datetime4">
              <a:rPr lang="en-US" smtClean="0"/>
              <a:t>May 3, 2025</a:t>
            </a:fld>
            <a:endParaRPr lang="en-US"/>
          </a:p>
        </p:txBody>
      </p:sp>
      <p:sp>
        <p:nvSpPr>
          <p:cNvPr id="6" name="Footer Placeholder 5"/>
          <p:cNvSpPr>
            <a:spLocks noGrp="1"/>
          </p:cNvSpPr>
          <p:nvPr>
            <p:ph type="ftr" sz="quarter" idx="11"/>
          </p:nvPr>
        </p:nvSpPr>
        <p:spPr>
          <a:xfrm>
            <a:off x="7200900" y="9689678"/>
            <a:ext cx="6972300" cy="547688"/>
          </a:xfrm>
        </p:spPr>
        <p:txBody>
          <a:bodyPr/>
          <a:lstStyle>
            <a:lvl1pPr algn="l">
              <a:defRPr>
                <a:solidFill>
                  <a:schemeClr val="tx2"/>
                </a:solidFill>
              </a:defRPr>
            </a:lvl1pPr>
          </a:lstStyle>
          <a:p>
            <a:r>
              <a:rPr lang="en-US"/>
              <a:t>DEPARTMENT OF ARTIFICIAL  INTELLIGENCE &amp; DATA SCIENCE / AI STORYBOARD GENERATOR</a:t>
            </a:r>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7429500"/>
            <a:ext cx="18283238" cy="285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3" y="737261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45920" y="7612380"/>
            <a:ext cx="15169896" cy="1234440"/>
          </a:xfrm>
        </p:spPr>
        <p:txBody>
          <a:bodyPr lIns="91440" tIns="0" rIns="91440" bIns="0" anchor="b">
            <a:noAutofit/>
          </a:bodyPr>
          <a:lstStyle>
            <a:lvl1pPr>
              <a:defRPr sz="54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3" y="0"/>
            <a:ext cx="18287978" cy="7372614"/>
          </a:xfrm>
          <a:blipFill>
            <a:blip r:embed="rId2"/>
            <a:stretch>
              <a:fillRect/>
            </a:stretch>
          </a:blipFill>
        </p:spPr>
        <p:txBody>
          <a:bodyPr lIns="457200" tIns="457200"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645920" y="8860535"/>
            <a:ext cx="15169896" cy="891540"/>
          </a:xfrm>
        </p:spPr>
        <p:txBody>
          <a:bodyPr lIns="91440" tIns="0" rIns="91440" bIns="0">
            <a:normAutofit/>
          </a:bodyPr>
          <a:lstStyle>
            <a:lvl1pPr marL="0" indent="0">
              <a:spcBef>
                <a:spcPts val="0"/>
              </a:spcBef>
              <a:spcAft>
                <a:spcPts val="900"/>
              </a:spcAft>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CB61BBB8-2B7D-4CCA-9125-6E278CAB409B}" type="datetime4">
              <a:rPr lang="en-US" smtClean="0"/>
              <a:t>May 3, 2025</a:t>
            </a:fld>
            <a:endParaRPr lang="en-US"/>
          </a:p>
        </p:txBody>
      </p:sp>
      <p:sp>
        <p:nvSpPr>
          <p:cNvPr id="6" name="Footer Placeholder 5"/>
          <p:cNvSpPr>
            <a:spLocks noGrp="1"/>
          </p:cNvSpPr>
          <p:nvPr>
            <p:ph type="ftr" sz="quarter" idx="11"/>
          </p:nvPr>
        </p:nvSpPr>
        <p:spPr/>
        <p:txBody>
          <a:bodyPr/>
          <a:lstStyle/>
          <a:p>
            <a:r>
              <a:rPr lang="en-US"/>
              <a:t>DEPARTMENT OF ARTIFICIAL  INTELLIGENCE &amp; DATA SCIENCE / AI STORYBOARD GENERATOR</a:t>
            </a:r>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B5F687-FFFF-46D9-8E32-E94E83756388}" type="datetime4">
              <a:rPr lang="en-US" smtClean="0"/>
              <a:t>May 3, 2025</a:t>
            </a:fld>
            <a:endParaRPr lang="en-US"/>
          </a:p>
        </p:txBody>
      </p:sp>
      <p:sp>
        <p:nvSpPr>
          <p:cNvPr id="5" name="Footer Placeholder 4"/>
          <p:cNvSpPr>
            <a:spLocks noGrp="1"/>
          </p:cNvSpPr>
          <p:nvPr>
            <p:ph type="ftr" sz="quarter" idx="11"/>
          </p:nvPr>
        </p:nvSpPr>
        <p:spPr/>
        <p:txBody>
          <a:bodyPr/>
          <a:lstStyle/>
          <a:p>
            <a:r>
              <a:rPr lang="en-US"/>
              <a:t>DEPARTMENT OF ARTIFICIAL  INTELLIGENCE &amp; DATA SCIENCE / AI STORYBOARD GENERATOR</a:t>
            </a:r>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3087350" y="622168"/>
            <a:ext cx="3943350" cy="86361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622167"/>
            <a:ext cx="11601450" cy="8636133"/>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71E080-19C7-42DB-BCBC-99F7DAE035EE}" type="datetime4">
              <a:rPr lang="en-US" smtClean="0"/>
              <a:t>May 3, 2025</a:t>
            </a:fld>
            <a:endParaRPr lang="en-US"/>
          </a:p>
        </p:txBody>
      </p:sp>
      <p:sp>
        <p:nvSpPr>
          <p:cNvPr id="5" name="Footer Placeholder 4"/>
          <p:cNvSpPr>
            <a:spLocks noGrp="1"/>
          </p:cNvSpPr>
          <p:nvPr>
            <p:ph type="ftr" sz="quarter" idx="11"/>
          </p:nvPr>
        </p:nvSpPr>
        <p:spPr/>
        <p:txBody>
          <a:bodyPr/>
          <a:lstStyle/>
          <a:p>
            <a:r>
              <a:rPr lang="en-US"/>
              <a:t>DEPARTMENT OF ARTIFICIAL  INTELLIGENCE &amp; DATA SCIENCE / AI STORYBOARD GENERATOR</a:t>
            </a:r>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9601200"/>
            <a:ext cx="18288000"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9501474"/>
            <a:ext cx="18288002" cy="98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645920" y="429905"/>
            <a:ext cx="15087600" cy="217613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645920" y="2768601"/>
            <a:ext cx="15087600" cy="603504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45921" y="9689678"/>
            <a:ext cx="3708407" cy="547688"/>
          </a:xfrm>
          <a:prstGeom prst="rect">
            <a:avLst/>
          </a:prstGeom>
        </p:spPr>
        <p:txBody>
          <a:bodyPr vert="horz" lIns="91440" tIns="45720" rIns="91440" bIns="45720" rtlCol="0" anchor="ctr"/>
          <a:lstStyle>
            <a:lvl1pPr algn="l">
              <a:defRPr sz="1350">
                <a:solidFill>
                  <a:srgbClr val="FFFFFF"/>
                </a:solidFill>
              </a:defRPr>
            </a:lvl1pPr>
          </a:lstStyle>
          <a:p>
            <a:fld id="{C243FC95-C52F-4019-8782-8D626474F857}" type="datetime4">
              <a:rPr lang="en-US" smtClean="0"/>
              <a:t>May 3, 2025</a:t>
            </a:fld>
            <a:endParaRPr lang="en-US"/>
          </a:p>
        </p:txBody>
      </p:sp>
      <p:sp>
        <p:nvSpPr>
          <p:cNvPr id="5" name="Footer Placeholder 4"/>
          <p:cNvSpPr>
            <a:spLocks noGrp="1"/>
          </p:cNvSpPr>
          <p:nvPr>
            <p:ph type="ftr" sz="quarter" idx="3"/>
          </p:nvPr>
        </p:nvSpPr>
        <p:spPr>
          <a:xfrm>
            <a:off x="5529278" y="9689678"/>
            <a:ext cx="7234206" cy="547688"/>
          </a:xfrm>
          <a:prstGeom prst="rect">
            <a:avLst/>
          </a:prstGeom>
        </p:spPr>
        <p:txBody>
          <a:bodyPr vert="horz" lIns="91440" tIns="45720" rIns="91440" bIns="45720" rtlCol="0" anchor="ctr"/>
          <a:lstStyle>
            <a:lvl1pPr algn="ctr">
              <a:defRPr sz="1350" cap="all" baseline="0">
                <a:solidFill>
                  <a:srgbClr val="FFFFFF"/>
                </a:solidFill>
              </a:defRPr>
            </a:lvl1pPr>
          </a:lstStyle>
          <a:p>
            <a:r>
              <a:rPr lang="en-US"/>
              <a:t>DEPARTMENT OF ARTIFICIAL  INTELLIGENCE &amp; DATA SCIENCE / AI STORYBOARD GENERATOR</a:t>
            </a:r>
            <a:endParaRPr lang="en-IN"/>
          </a:p>
        </p:txBody>
      </p:sp>
      <p:sp>
        <p:nvSpPr>
          <p:cNvPr id="6" name="Slide Number Placeholder 5"/>
          <p:cNvSpPr>
            <a:spLocks noGrp="1"/>
          </p:cNvSpPr>
          <p:nvPr>
            <p:ph type="sldNum" sz="quarter" idx="4"/>
          </p:nvPr>
        </p:nvSpPr>
        <p:spPr>
          <a:xfrm>
            <a:off x="14850688" y="9689678"/>
            <a:ext cx="1968038" cy="547688"/>
          </a:xfrm>
          <a:prstGeom prst="rect">
            <a:avLst/>
          </a:prstGeom>
        </p:spPr>
        <p:txBody>
          <a:bodyPr vert="horz" lIns="91440" tIns="45720" rIns="91440" bIns="45720" rtlCol="0" anchor="ctr"/>
          <a:lstStyle>
            <a:lvl1pPr algn="r">
              <a:defRPr sz="1575">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10" name="Straight Connector 9"/>
          <p:cNvCxnSpPr/>
          <p:nvPr/>
        </p:nvCxnSpPr>
        <p:spPr>
          <a:xfrm>
            <a:off x="1790298" y="2606768"/>
            <a:ext cx="149504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1371600" rtl="0" eaLnBrk="1" latinLnBrk="0" hangingPunct="1">
        <a:lnSpc>
          <a:spcPct val="85000"/>
        </a:lnSpc>
        <a:spcBef>
          <a:spcPct val="0"/>
        </a:spcBef>
        <a:buNone/>
        <a:defRPr sz="7200" kern="1200" spc="-75" baseline="0">
          <a:solidFill>
            <a:schemeClr val="tx1">
              <a:lumMod val="75000"/>
              <a:lumOff val="25000"/>
            </a:schemeClr>
          </a:solidFill>
          <a:latin typeface="+mj-lt"/>
          <a:ea typeface="+mj-ea"/>
          <a:cs typeface="+mj-cs"/>
        </a:defRPr>
      </a:lvl1pPr>
    </p:titleStyle>
    <p:bodyStyle>
      <a:lvl1pPr marL="137160" indent="-137160" algn="l" defTabSz="1371600" rtl="0" eaLnBrk="1" latinLnBrk="0" hangingPunct="1">
        <a:lnSpc>
          <a:spcPct val="90000"/>
        </a:lnSpc>
        <a:spcBef>
          <a:spcPts val="1800"/>
        </a:spcBef>
        <a:spcAft>
          <a:spcPts val="300"/>
        </a:spcAft>
        <a:buClr>
          <a:schemeClr val="accent1"/>
        </a:buClr>
        <a:buSzPct val="100000"/>
        <a:buFont typeface="Calibri" panose="020F0502020204030204" pitchFamily="34" charset="0"/>
        <a:buChar char=" "/>
        <a:defRPr sz="3000" kern="1200">
          <a:solidFill>
            <a:schemeClr val="tx1">
              <a:lumMod val="75000"/>
              <a:lumOff val="25000"/>
            </a:schemeClr>
          </a:solidFill>
          <a:latin typeface="+mn-lt"/>
          <a:ea typeface="+mn-ea"/>
          <a:cs typeface="+mn-cs"/>
        </a:defRPr>
      </a:lvl1pPr>
      <a:lvl2pPr marL="57594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700" kern="1200">
          <a:solidFill>
            <a:schemeClr val="tx1">
              <a:lumMod val="75000"/>
              <a:lumOff val="25000"/>
            </a:schemeClr>
          </a:solidFill>
          <a:latin typeface="+mn-lt"/>
          <a:ea typeface="+mn-ea"/>
          <a:cs typeface="+mn-cs"/>
        </a:defRPr>
      </a:lvl2pPr>
      <a:lvl3pPr marL="85026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3pPr>
      <a:lvl4pPr marL="112458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4pPr>
      <a:lvl5pPr marL="1398905" indent="-27432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5pPr>
      <a:lvl6pPr marL="1649730"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6pPr>
      <a:lvl7pPr marL="1950085"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7pPr>
      <a:lvl8pPr marL="2249805"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8pPr>
      <a:lvl9pPr marL="2550160" indent="-342900" algn="l" defTabSz="1371600" rtl="0" eaLnBrk="1" latinLnBrk="0" hangingPunct="1">
        <a:lnSpc>
          <a:spcPct val="90000"/>
        </a:lnSpc>
        <a:spcBef>
          <a:spcPts val="300"/>
        </a:spcBef>
        <a:spcAft>
          <a:spcPts val="600"/>
        </a:spcAft>
        <a:buClr>
          <a:schemeClr val="accent1"/>
        </a:buClr>
        <a:buFont typeface="Calibri" panose="020F0502020204030204" pitchFamily="34" charset="0"/>
        <a:buChar char="◦"/>
        <a:defRPr sz="2100" kern="1200">
          <a:solidFill>
            <a:schemeClr val="tx1">
              <a:lumMod val="75000"/>
              <a:lumOff val="2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3" descr="C:\Users\Sharad\Desktop\download veltech.png"/>
          <p:cNvPicPr>
            <a:picLocks noChangeAspect="1" noChangeArrowheads="1"/>
          </p:cNvPicPr>
          <p:nvPr/>
        </p:nvPicPr>
        <p:blipFill>
          <a:blip r:embed="rId3"/>
          <a:srcRect/>
          <a:stretch>
            <a:fillRect/>
          </a:stretch>
        </p:blipFill>
        <p:spPr bwMode="auto">
          <a:xfrm>
            <a:off x="6826102" y="0"/>
            <a:ext cx="4295554" cy="1438275"/>
          </a:xfrm>
          <a:prstGeom prst="rect">
            <a:avLst/>
          </a:prstGeom>
          <a:noFill/>
        </p:spPr>
      </p:pic>
      <p:sp>
        <p:nvSpPr>
          <p:cNvPr id="22" name="Rectangle 21"/>
          <p:cNvSpPr/>
          <p:nvPr/>
        </p:nvSpPr>
        <p:spPr>
          <a:xfrm>
            <a:off x="602672" y="2009983"/>
            <a:ext cx="17415164" cy="3161058"/>
          </a:xfrm>
          <a:prstGeom prst="rect">
            <a:avLst/>
          </a:prstGeom>
        </p:spPr>
        <p:txBody>
          <a:bodyPr wrap="square">
            <a:spAutoFit/>
          </a:bodyPr>
          <a:lstStyle/>
          <a:p>
            <a:pPr marL="12065" marR="5080" algn="ctr">
              <a:lnSpc>
                <a:spcPct val="102000"/>
              </a:lnSpc>
              <a:spcBef>
                <a:spcPts val="70"/>
              </a:spcBef>
            </a:pPr>
            <a:r>
              <a:rPr lang="en-IN" sz="2000" b="1" spc="-25" dirty="0">
                <a:latin typeface="Times New Roman" panose="02020603050405020304" pitchFamily="18" charset="0"/>
                <a:cs typeface="Times New Roman" panose="02020603050405020304" pitchFamily="18" charset="0"/>
              </a:rPr>
              <a:t>DEPARTMENT OF ARTIFICIAL INTELLIGENCE AND DATA SCIENCE </a:t>
            </a:r>
            <a:endParaRPr lang="en-IN" sz="2000" b="1" spc="-5" dirty="0">
              <a:latin typeface="Times New Roman" panose="02020603050405020304" pitchFamily="18" charset="0"/>
              <a:cs typeface="Times New Roman" panose="02020603050405020304" pitchFamily="18" charset="0"/>
            </a:endParaRPr>
          </a:p>
          <a:p>
            <a:pPr marL="12065" marR="5080" algn="ctr">
              <a:lnSpc>
                <a:spcPct val="102000"/>
              </a:lnSpc>
              <a:spcBef>
                <a:spcPts val="70"/>
              </a:spcBef>
            </a:pPr>
            <a:r>
              <a:rPr lang="en-IN" sz="2000" b="1" spc="-5" dirty="0">
                <a:latin typeface="Times New Roman" panose="02020603050405020304" pitchFamily="18" charset="0"/>
                <a:cs typeface="Times New Roman" panose="02020603050405020304" pitchFamily="18" charset="0"/>
              </a:rPr>
              <a:t>SCHOOL OF COMPUTING  </a:t>
            </a:r>
          </a:p>
          <a:p>
            <a:pPr marL="12065" marR="5080" algn="ctr">
              <a:lnSpc>
                <a:spcPct val="102000"/>
              </a:lnSpc>
              <a:spcBef>
                <a:spcPts val="70"/>
              </a:spcBef>
            </a:pPr>
            <a:r>
              <a:rPr lang="en-IN" sz="2000" b="1" dirty="0">
                <a:latin typeface="Times New Roman" panose="02020603050405020304" pitchFamily="18" charset="0"/>
                <a:cs typeface="Times New Roman" panose="02020603050405020304" pitchFamily="18" charset="0"/>
              </a:rPr>
              <a:t>10214AD602 </a:t>
            </a:r>
            <a:r>
              <a:rPr lang="en-IN" sz="2000" b="1" spc="-5" dirty="0">
                <a:latin typeface="Times New Roman" panose="02020603050405020304" pitchFamily="18" charset="0"/>
                <a:cs typeface="Times New Roman" panose="02020603050405020304" pitchFamily="18" charset="0"/>
              </a:rPr>
              <a:t>MINOR PROJECT -II</a:t>
            </a:r>
          </a:p>
          <a:p>
            <a:pPr marL="12065" marR="5080" algn="ctr">
              <a:lnSpc>
                <a:spcPct val="102000"/>
              </a:lnSpc>
              <a:spcBef>
                <a:spcPts val="70"/>
              </a:spcBef>
            </a:pPr>
            <a:r>
              <a:rPr lang="en-IN" sz="2000" b="1" spc="-5" dirty="0">
                <a:latin typeface="Times New Roman" panose="02020603050405020304" pitchFamily="18" charset="0"/>
                <a:cs typeface="Times New Roman" panose="02020603050405020304" pitchFamily="18" charset="0"/>
              </a:rPr>
              <a:t>WINTER SEMESTER(2024-2025)  </a:t>
            </a:r>
          </a:p>
          <a:p>
            <a:pPr marL="12065" marR="5080" algn="ctr">
              <a:lnSpc>
                <a:spcPct val="102000"/>
              </a:lnSpc>
              <a:spcBef>
                <a:spcPts val="70"/>
              </a:spcBef>
            </a:pPr>
            <a:r>
              <a:rPr lang="en-IN" sz="2400" b="1" spc="-5" dirty="0">
                <a:latin typeface="Times New Roman" panose="02020603050405020304" pitchFamily="18" charset="0"/>
                <a:cs typeface="Times New Roman" panose="02020603050405020304" pitchFamily="18" charset="0"/>
              </a:rPr>
              <a:t>REVIEW-II</a:t>
            </a:r>
            <a:endParaRPr lang="en-IN" sz="2400" b="1" dirty="0">
              <a:latin typeface="Times New Roman" panose="02020603050405020304" pitchFamily="18" charset="0"/>
              <a:cs typeface="Times New Roman" panose="02020603050405020304" pitchFamily="18" charset="0"/>
            </a:endParaRPr>
          </a:p>
          <a:p>
            <a:pPr marL="758190"/>
            <a:r>
              <a:rPr lang="en-IN" sz="2000" b="1" dirty="0">
                <a:latin typeface="Times New Roman" panose="02020603050405020304" pitchFamily="18" charset="0"/>
                <a:cs typeface="Times New Roman" panose="02020603050405020304" pitchFamily="18" charset="0"/>
              </a:rPr>
              <a:t>                                                                                                                                      </a:t>
            </a:r>
          </a:p>
          <a:p>
            <a:pPr marL="758190"/>
            <a:endParaRPr lang="en-IN" sz="2000" b="1" dirty="0">
              <a:latin typeface="Times New Roman" panose="02020603050405020304" pitchFamily="18" charset="0"/>
              <a:cs typeface="Times New Roman" panose="02020603050405020304" pitchFamily="18" charset="0"/>
            </a:endParaRPr>
          </a:p>
          <a:p>
            <a:pPr marL="758190"/>
            <a:r>
              <a:rPr lang="en-IN" sz="2000" b="1" dirty="0">
                <a:latin typeface="Times New Roman" panose="02020603050405020304" pitchFamily="18" charset="0"/>
                <a:cs typeface="Times New Roman" panose="02020603050405020304" pitchFamily="18" charset="0"/>
              </a:rPr>
              <a:t>                                                                                                                                                         </a:t>
            </a:r>
          </a:p>
          <a:p>
            <a:pPr marL="758190"/>
            <a:r>
              <a:rPr lang="en-IN" sz="3000" b="1" dirty="0">
                <a:effectLst/>
                <a:latin typeface="Times New Roman" panose="02020603050405020304" pitchFamily="18" charset="0"/>
                <a:ea typeface="Verdana" panose="020B0604030504040204" pitchFamily="34" charset="0"/>
                <a:cs typeface="Times New Roman" panose="02020603050405020304" pitchFamily="18" charset="0"/>
              </a:rPr>
              <a:t>“AI-Powered Storyboard Creator: Generative Text-to-Image Tool for Movies, Games and Ads </a:t>
            </a:r>
            <a:r>
              <a:rPr lang="en-IN" sz="3000" b="1" spc="-5" dirty="0">
                <a:latin typeface="Times New Roman" panose="02020603050405020304" pitchFamily="18" charset="0"/>
                <a:cs typeface="Times New Roman" panose="02020603050405020304" pitchFamily="18" charset="0"/>
              </a:rPr>
              <a:t>”</a:t>
            </a:r>
            <a:endParaRPr lang="en-IN" sz="3000" dirty="0">
              <a:latin typeface="Times New Roman" panose="02020603050405020304" pitchFamily="18" charset="0"/>
              <a:cs typeface="Times New Roman" panose="02020603050405020304" pitchFamily="18" charset="0"/>
            </a:endParaRPr>
          </a:p>
        </p:txBody>
      </p:sp>
      <p:sp>
        <p:nvSpPr>
          <p:cNvPr id="29" name="Slide Number Placeholder 3"/>
          <p:cNvSpPr txBox="1"/>
          <p:nvPr/>
        </p:nvSpPr>
        <p:spPr>
          <a:xfrm>
            <a:off x="15740698" y="275977"/>
            <a:ext cx="2133600" cy="365125"/>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en-US" sz="2000" b="0" i="0" u="none" strike="noStrike" kern="0" cap="none" spc="0" normalizeH="0" baseline="0" noProof="0" dirty="0">
              <a:ln>
                <a:noFill/>
              </a:ln>
              <a:solidFill>
                <a:schemeClr val="tx1"/>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sp>
        <p:nvSpPr>
          <p:cNvPr id="31" name="Rectangle 30"/>
          <p:cNvSpPr/>
          <p:nvPr/>
        </p:nvSpPr>
        <p:spPr>
          <a:xfrm>
            <a:off x="311727" y="7704404"/>
            <a:ext cx="9144000" cy="1015663"/>
          </a:xfrm>
          <a:prstGeom prst="rect">
            <a:avLst/>
          </a:prstGeom>
        </p:spPr>
        <p:txBody>
          <a:bodyPr>
            <a:spAutoFit/>
          </a:bodyPr>
          <a:lstStyle/>
          <a:p>
            <a:r>
              <a:rPr lang="en-IN" sz="2000" dirty="0">
                <a:latin typeface="Times New Roman" panose="02020603050405020304" pitchFamily="18" charset="0"/>
                <a:cs typeface="Times New Roman" panose="02020603050405020304" pitchFamily="18" charset="0"/>
              </a:rPr>
              <a:t>1 J.NAVADEEP (VTU NO.23403)(REG NO.22UEAD0040)</a:t>
            </a:r>
          </a:p>
          <a:p>
            <a:r>
              <a:rPr lang="en-IN" sz="2000" dirty="0">
                <a:latin typeface="Times New Roman" panose="02020603050405020304" pitchFamily="18" charset="0"/>
                <a:cs typeface="Times New Roman" panose="02020603050405020304" pitchFamily="18" charset="0"/>
              </a:rPr>
              <a:t>2 G.HARSHITTH (VTU NO.24248)(REG NO.22UEAD0011)</a:t>
            </a:r>
          </a:p>
          <a:p>
            <a:r>
              <a:rPr lang="en-IN" sz="2000" dirty="0">
                <a:latin typeface="Times New Roman" panose="02020603050405020304" pitchFamily="18" charset="0"/>
                <a:cs typeface="Times New Roman" panose="02020603050405020304" pitchFamily="18" charset="0"/>
              </a:rPr>
              <a:t>3.M.SIDDESWAR REDDY (VTU NO.21541)(REG NO</a:t>
            </a:r>
            <a:r>
              <a:rPr lang="en-IN" sz="2000" dirty="0"/>
              <a:t>.22UEAD0037)</a:t>
            </a:r>
          </a:p>
        </p:txBody>
      </p:sp>
      <p:sp>
        <p:nvSpPr>
          <p:cNvPr id="32" name="TextBox 31"/>
          <p:cNvSpPr txBox="1"/>
          <p:nvPr/>
        </p:nvSpPr>
        <p:spPr>
          <a:xfrm>
            <a:off x="351841" y="7003473"/>
            <a:ext cx="434485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PRESENTED BY</a:t>
            </a:r>
          </a:p>
        </p:txBody>
      </p:sp>
      <p:sp>
        <p:nvSpPr>
          <p:cNvPr id="33" name="TextBox 32"/>
          <p:cNvSpPr txBox="1"/>
          <p:nvPr/>
        </p:nvSpPr>
        <p:spPr>
          <a:xfrm>
            <a:off x="12258371" y="6583970"/>
            <a:ext cx="3168503"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SUPERVISED BY</a:t>
            </a:r>
          </a:p>
        </p:txBody>
      </p:sp>
      <p:sp>
        <p:nvSpPr>
          <p:cNvPr id="34" name="TextBox 33"/>
          <p:cNvSpPr txBox="1"/>
          <p:nvPr/>
        </p:nvSpPr>
        <p:spPr>
          <a:xfrm>
            <a:off x="11884301" y="7199210"/>
            <a:ext cx="5884154" cy="400110"/>
          </a:xfrm>
          <a:prstGeom prst="rect">
            <a:avLst/>
          </a:prstGeom>
          <a:noFill/>
        </p:spPr>
        <p:txBody>
          <a:bodyPr wrap="square" rtlCol="0">
            <a:spAutoFit/>
          </a:bodyPr>
          <a:lstStyle/>
          <a:p>
            <a:r>
              <a:rPr lang="en-IN" sz="2000" dirty="0"/>
              <a:t>       Mrs. JAYSHREE. S</a:t>
            </a:r>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
        <p:nvSpPr>
          <p:cNvPr id="4" name="Footer Placeholder 3"/>
          <p:cNvSpPr>
            <a:spLocks noGrp="1"/>
          </p:cNvSpPr>
          <p:nvPr>
            <p:ph type="ftr" sz="quarter" idx="11"/>
          </p:nvPr>
        </p:nvSpPr>
        <p:spPr/>
        <p:txBody>
          <a:bodyPr/>
          <a:lstStyle/>
          <a:p>
            <a:r>
              <a:rPr lang="en-US" dirty="0"/>
              <a:t>DEPARTMENT OF ARTIFICIAL  INTELLIGENCE &amp; DATA SCIENCE / AI STORYBOARD GENERATOR</a:t>
            </a:r>
            <a:endParaRPr lang="en-IN" dirty="0"/>
          </a:p>
        </p:txBody>
      </p:sp>
      <p:sp>
        <p:nvSpPr>
          <p:cNvPr id="5" name="Date Placeholder 4"/>
          <p:cNvSpPr>
            <a:spLocks noGrp="1"/>
          </p:cNvSpPr>
          <p:nvPr>
            <p:ph type="dt" sz="half" idx="10"/>
          </p:nvPr>
        </p:nvSpPr>
        <p:spPr/>
        <p:txBody>
          <a:bodyPr/>
          <a:lstStyle/>
          <a:p>
            <a:fld id="{3B2CF649-B074-41F5-AB93-2249E651BFAE}" type="datetime4">
              <a:rPr lang="en-US" smtClean="0"/>
              <a:t>May 3, 2025</a:t>
            </a:fld>
            <a:endParaRPr lang="en-US"/>
          </a:p>
        </p:txBody>
      </p:sp>
      <p:pic>
        <p:nvPicPr>
          <p:cNvPr id="13" name="Picture 2" descr="C:\Users\Sharad\Desktop\Logo-Final-A veltech.png"/>
          <p:cNvPicPr>
            <a:picLocks noChangeAspect="1" noChangeArrowheads="1"/>
          </p:cNvPicPr>
          <p:nvPr/>
        </p:nvPicPr>
        <p:blipFill>
          <a:blip r:embed="rId4"/>
          <a:srcRect/>
          <a:stretch>
            <a:fillRect/>
          </a:stretch>
        </p:blipFill>
        <p:spPr bwMode="auto">
          <a:xfrm>
            <a:off x="15597269" y="293828"/>
            <a:ext cx="1160907" cy="1223246"/>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88D88E-D78D-4B9D-AD6D-4C51BAC0AA0B}"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
        <p:nvSpPr>
          <p:cNvPr id="5" name="Rectangle 4"/>
          <p:cNvSpPr/>
          <p:nvPr/>
        </p:nvSpPr>
        <p:spPr>
          <a:xfrm>
            <a:off x="727362" y="359630"/>
            <a:ext cx="16521545" cy="8679299"/>
          </a:xfrm>
          <a:prstGeom prst="rect">
            <a:avLst/>
          </a:prstGeom>
        </p:spPr>
        <p:txBody>
          <a:bodyPr wrap="square">
            <a:spAutoFit/>
          </a:bodyPr>
          <a:lstStyle/>
          <a:p>
            <a:pPr>
              <a:lnSpc>
                <a:spcPct val="150000"/>
              </a:lnSpc>
            </a:pPr>
            <a:r>
              <a:rPr lang="en-IN" sz="3600" b="1" dirty="0">
                <a:latin typeface="Times New Roman" panose="02020603050405020304" pitchFamily="18" charset="0"/>
                <a:cs typeface="Times New Roman" panose="02020603050405020304" pitchFamily="18" charset="0"/>
              </a:rPr>
              <a:t>OVERVIEW </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ABSTRACT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OBJECTIVE</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INTRODUCTION</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LITERATURE REVIEW (SOFT COPY OF PAPERS TO BE LINKED AS HYPERLINK)</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DESIGN AND METHODOLOGIES</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IMPLEMENTATION</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TESTING</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INPUT AND OUTPUT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INCLUDE DEMO VIDEO-1 (Till REVEW-1)</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INCLUDE DEMO VIDEO-2(Complete Implementation of Project)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CONCLUSION</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WEB REFERENCES LINK (TILL REVIEW DATE ALL LINKS TO BE INCLUDED DAY WISE)</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PLAGIARISM REPORT OF PPT</a:t>
            </a:r>
          </a:p>
          <a:p>
            <a:pPr lvl="1">
              <a:lnSpc>
                <a:spcPct val="150000"/>
              </a:lnSpc>
              <a:buFont typeface="Wingdings" panose="05000000000000000000" pitchFamily="2" charset="2"/>
              <a:buChar char="q"/>
            </a:pPr>
            <a:r>
              <a:rPr lang="en-IN" sz="2400" dirty="0">
                <a:latin typeface="Times New Roman" panose="02020603050405020304" pitchFamily="18" charset="0"/>
                <a:cs typeface="Times New Roman" panose="02020603050405020304" pitchFamily="18" charset="0"/>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3546BA-8283-4284-B3AA-0CA057DD9B2B}"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5" name="Rectangle 4"/>
          <p:cNvSpPr/>
          <p:nvPr/>
        </p:nvSpPr>
        <p:spPr>
          <a:xfrm>
            <a:off x="885558" y="389205"/>
            <a:ext cx="16993367" cy="2969531"/>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ABSTRACT</a:t>
            </a:r>
          </a:p>
          <a:p>
            <a:pPr lvl="1">
              <a:lnSpc>
                <a:spcPct val="150000"/>
              </a:lnSpc>
            </a:pPr>
            <a:endParaRPr lang="en-IN" sz="3200" b="1" dirty="0">
              <a:latin typeface="Times New Roman" panose="02020603050405020304" pitchFamily="18" charset="0"/>
              <a:cs typeface="Times New Roman" panose="02020603050405020304" pitchFamily="18" charset="0"/>
            </a:endParaRPr>
          </a:p>
          <a:p>
            <a:pPr lvl="1">
              <a:lnSpc>
                <a:spcPct val="150000"/>
              </a:lnSpc>
            </a:pPr>
            <a:endParaRPr lang="en-IN" sz="3200" b="1" dirty="0">
              <a:latin typeface="Times New Roman" panose="02020603050405020304" pitchFamily="18" charset="0"/>
              <a:cs typeface="Times New Roman" panose="02020603050405020304" pitchFamily="18" charset="0"/>
            </a:endParaRPr>
          </a:p>
          <a:p>
            <a:pPr lvl="1">
              <a:lnSpc>
                <a:spcPct val="150000"/>
              </a:lnSpc>
            </a:pPr>
            <a:endParaRPr lang="en-IN" sz="2800" b="1" dirty="0">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2E59A066-B90D-D826-1DE1-C2993C2F2679}"/>
              </a:ext>
            </a:extLst>
          </p:cNvPr>
          <p:cNvSpPr>
            <a:spLocks noChangeArrowheads="1"/>
          </p:cNvSpPr>
          <p:nvPr/>
        </p:nvSpPr>
        <p:spPr bwMode="auto">
          <a:xfrm>
            <a:off x="1063358" y="1681013"/>
            <a:ext cx="15610114" cy="6924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rapid evolution of artificial intelligence has transformed creative industries, enabling innovative tools for content generation in movies, games, and advertising.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project aims to develop an AI-powered storyboard creator that converts textual descriptions into high-quality visual storyboards, streamlining pre-production processes.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Method</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Utilizes advanced generative AI models, combining natural language processing for text interpretation and text-to-image synthesis for visual output, trained on diverse cinematic and artistic datasets.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tool successfully generates detailed, contextually accurate storyboard images from text inputs, reducing manual effort and enhancing creative workflows.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800" dirty="0">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FontTx/>
              <a:buChar char="•"/>
            </a:pPr>
            <a:r>
              <a:rPr lang="en-US" sz="2800" b="1" dirty="0">
                <a:latin typeface="Times New Roman" panose="02020603050405020304" pitchFamily="18" charset="0"/>
                <a:cs typeface="Times New Roman" panose="02020603050405020304" pitchFamily="18" charset="0"/>
              </a:rPr>
              <a:t>Conclusion</a:t>
            </a:r>
            <a:r>
              <a:rPr lang="en-US" sz="2800" dirty="0">
                <a:latin typeface="Times New Roman" panose="02020603050405020304" pitchFamily="18" charset="0"/>
                <a:cs typeface="Times New Roman" panose="02020603050405020304" pitchFamily="18" charset="0"/>
              </a:rPr>
              <a:t>: The AI-powered storyboard creator offers a scalable, efficient solution for visualizing narratives, with potential to revolutionize storytelling across multiple media industries.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E5A4D5-9ACA-4C11-8DAD-A37D15343CDC}"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5" name="Rectangle 4"/>
          <p:cNvSpPr/>
          <p:nvPr/>
        </p:nvSpPr>
        <p:spPr>
          <a:xfrm>
            <a:off x="806898" y="451550"/>
            <a:ext cx="16940775" cy="1654748"/>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OBJECTIVES</a:t>
            </a:r>
          </a:p>
          <a:p>
            <a:pPr lvl="1" algn="ctr">
              <a:lnSpc>
                <a:spcPct val="150000"/>
              </a:lnSpc>
            </a:pPr>
            <a:endParaRPr lang="en-IN" sz="3600" b="1" dirty="0">
              <a:latin typeface="Times New Roman" panose="02020603050405020304" pitchFamily="18" charset="0"/>
              <a:cs typeface="Times New Roman" panose="02020603050405020304" pitchFamily="18" charset="0"/>
            </a:endParaRPr>
          </a:p>
        </p:txBody>
      </p:sp>
      <p:sp>
        <p:nvSpPr>
          <p:cNvPr id="6" name="Rectangle 5"/>
          <p:cNvSpPr/>
          <p:nvPr/>
        </p:nvSpPr>
        <p:spPr>
          <a:xfrm>
            <a:off x="711200" y="1722066"/>
            <a:ext cx="16446499" cy="6986528"/>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 objective of the </a:t>
            </a:r>
            <a:r>
              <a:rPr lang="en-US" sz="2800" b="1" dirty="0">
                <a:latin typeface="Times New Roman" panose="02020603050405020304" pitchFamily="18" charset="0"/>
                <a:cs typeface="Times New Roman" panose="02020603050405020304" pitchFamily="18" charset="0"/>
              </a:rPr>
              <a:t>AI-Powered Storyboard Creator</a:t>
            </a:r>
            <a:r>
              <a:rPr lang="en-US" sz="2800" dirty="0">
                <a:latin typeface="Times New Roman" panose="02020603050405020304" pitchFamily="18" charset="0"/>
                <a:cs typeface="Times New Roman" panose="02020603050405020304" pitchFamily="18" charset="0"/>
              </a:rPr>
              <a:t> project is to develop a generative AI tool that automates the creation of visual storyboards from textual descriptions. The tool aims to:</a:t>
            </a:r>
          </a:p>
          <a:p>
            <a:endParaRPr lang="en-US" sz="2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800" dirty="0">
                <a:latin typeface="Times New Roman" panose="02020603050405020304" pitchFamily="18" charset="0"/>
                <a:cs typeface="Times New Roman" panose="02020603050405020304" pitchFamily="18" charset="0"/>
              </a:rPr>
              <a:t>Automate the manual and time-consuming process of transforming scripts into illustrative frames for movies, games, and ads.</a:t>
            </a:r>
          </a:p>
          <a:p>
            <a:pPr marL="457200" indent="-457200">
              <a:buFont typeface="+mj-lt"/>
              <a:buAutoNum type="arabicPeriod"/>
            </a:pPr>
            <a:r>
              <a:rPr lang="en-US" sz="2800" dirty="0">
                <a:latin typeface="Times New Roman" panose="02020603050405020304" pitchFamily="18" charset="0"/>
                <a:cs typeface="Times New Roman" panose="02020603050405020304" pitchFamily="18" charset="0"/>
              </a:rPr>
              <a:t>Utilize cutting-edge Natural Language Processing (NLP) and text-to-image generation models to produce accurate </a:t>
            </a:r>
            <a:r>
              <a:rPr lang="en-IN" sz="2800" dirty="0">
                <a:latin typeface="Times New Roman" panose="02020603050405020304" pitchFamily="18" charset="0"/>
                <a:cs typeface="Times New Roman" panose="02020603050405020304" pitchFamily="18" charset="0"/>
              </a:rPr>
              <a:t>and high-quality visuals.</a:t>
            </a:r>
            <a:endParaRPr lang="en-US" sz="28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800" dirty="0">
                <a:latin typeface="Times New Roman" panose="02020603050405020304" pitchFamily="18" charset="0"/>
                <a:cs typeface="Times New Roman" panose="02020603050405020304" pitchFamily="18" charset="0"/>
              </a:rPr>
              <a:t>P</a:t>
            </a:r>
            <a:r>
              <a:rPr lang="en-US" sz="2800" dirty="0" err="1">
                <a:latin typeface="Times New Roman" panose="02020603050405020304" pitchFamily="18" charset="0"/>
                <a:cs typeface="Times New Roman" panose="02020603050405020304" pitchFamily="18" charset="0"/>
              </a:rPr>
              <a:t>rovide</a:t>
            </a:r>
            <a:r>
              <a:rPr lang="en-US" sz="2800" dirty="0">
                <a:latin typeface="Times New Roman" panose="02020603050405020304" pitchFamily="18" charset="0"/>
                <a:cs typeface="Times New Roman" panose="02020603050405020304" pitchFamily="18" charset="0"/>
              </a:rPr>
              <a:t> an intuitive platform for creators to visualize and refine their ideas instantly.</a:t>
            </a:r>
          </a:p>
          <a:p>
            <a:pPr marL="457200" indent="-457200">
              <a:buFont typeface="+mj-lt"/>
              <a:buAutoNum type="arabicPeriod"/>
            </a:pPr>
            <a:r>
              <a:rPr lang="en-US" sz="2800" dirty="0">
                <a:latin typeface="Times New Roman" panose="02020603050405020304" pitchFamily="18" charset="0"/>
                <a:cs typeface="Times New Roman" panose="02020603050405020304" pitchFamily="18" charset="0"/>
              </a:rPr>
              <a:t>Support a wide range of styles and genres, from cinematic realism to stylized game art, ensuring versatility across industries.</a:t>
            </a:r>
          </a:p>
          <a:p>
            <a:pPr marL="457200" indent="-457200">
              <a:buFont typeface="+mj-lt"/>
              <a:buAutoNum type="arabicPeriod"/>
            </a:pPr>
            <a:r>
              <a:rPr lang="en-US" sz="2800" dirty="0">
                <a:latin typeface="Times New Roman" panose="02020603050405020304" pitchFamily="18" charset="0"/>
                <a:cs typeface="Times New Roman" panose="02020603050405020304" pitchFamily="18" charset="0"/>
              </a:rPr>
              <a:t>Incorporate contextual understanding to align visuals with narrative tone, character details, and scene-specific requirements.</a:t>
            </a:r>
          </a:p>
          <a:p>
            <a:pPr marL="457200" indent="-457200">
              <a:buFont typeface="+mj-lt"/>
              <a:buAutoNum type="arabicPeriod"/>
            </a:pPr>
            <a:r>
              <a:rPr lang="en-US" sz="2800" dirty="0">
                <a:latin typeface="Times New Roman" panose="02020603050405020304" pitchFamily="18" charset="0"/>
                <a:cs typeface="Times New Roman" panose="02020603050405020304" pitchFamily="18" charset="0"/>
              </a:rPr>
              <a:t>Enable rapid prototyping of concepts, empowering creators to experiment with multiple visual interpretations efficiently.</a:t>
            </a:r>
          </a:p>
          <a:p>
            <a:pPr marL="457200" indent="-457200">
              <a:buFont typeface="+mj-lt"/>
              <a:buAutoNum type="arabicPeriod"/>
            </a:pPr>
            <a:r>
              <a:rPr lang="en-US" sz="2800" dirty="0">
                <a:latin typeface="Times New Roman" panose="02020603050405020304" pitchFamily="18" charset="0"/>
                <a:cs typeface="Times New Roman" panose="02020603050405020304" pitchFamily="18" charset="0"/>
              </a:rPr>
              <a:t>Leverage continuous learning capabilities to improve output quality based on user interactions and evolving creative trends.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F6A690-EA12-41A5-A342-AC5742774059}"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8" name="Rectangle 7"/>
          <p:cNvSpPr/>
          <p:nvPr/>
        </p:nvSpPr>
        <p:spPr>
          <a:xfrm>
            <a:off x="5563955" y="698561"/>
            <a:ext cx="6635343" cy="646331"/>
          </a:xfrm>
          <a:prstGeom prst="rect">
            <a:avLst/>
          </a:prstGeom>
        </p:spPr>
        <p:txBody>
          <a:bodyPr wrap="none">
            <a:spAutoFit/>
          </a:bodyPr>
          <a:lstStyle/>
          <a:p>
            <a:r>
              <a:rPr lang="en-IN" sz="3600" b="1" dirty="0">
                <a:latin typeface="Times New Roman" panose="02020603050405020304" pitchFamily="18" charset="0"/>
                <a:cs typeface="Times New Roman" panose="02020603050405020304" pitchFamily="18" charset="0"/>
              </a:rPr>
              <a:t>TIMELINE OF THE PROJECT</a:t>
            </a:r>
            <a:endParaRPr lang="en-IN" sz="3600" dirty="0"/>
          </a:p>
        </p:txBody>
      </p:sp>
      <p:sp>
        <p:nvSpPr>
          <p:cNvPr id="7" name="TextBox 6">
            <a:extLst>
              <a:ext uri="{FF2B5EF4-FFF2-40B4-BE49-F238E27FC236}">
                <a16:creationId xmlns:a16="http://schemas.microsoft.com/office/drawing/2014/main" id="{0F433B7B-0216-3396-C3E6-5AD1BDDA23A4}"/>
              </a:ext>
            </a:extLst>
          </p:cNvPr>
          <p:cNvSpPr txBox="1"/>
          <p:nvPr/>
        </p:nvSpPr>
        <p:spPr>
          <a:xfrm>
            <a:off x="6977999" y="1664041"/>
            <a:ext cx="9144000" cy="646331"/>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GANTT CHART</a:t>
            </a:r>
            <a:endParaRPr lang="en-IN" sz="3600" dirty="0"/>
          </a:p>
        </p:txBody>
      </p:sp>
      <p:pic>
        <p:nvPicPr>
          <p:cNvPr id="9" name="Picture 8">
            <a:extLst>
              <a:ext uri="{FF2B5EF4-FFF2-40B4-BE49-F238E27FC236}">
                <a16:creationId xmlns:a16="http://schemas.microsoft.com/office/drawing/2014/main" id="{C96C81F6-9424-87DA-3F69-989B564A977D}"/>
              </a:ext>
            </a:extLst>
          </p:cNvPr>
          <p:cNvPicPr>
            <a:picLocks noChangeAspect="1"/>
          </p:cNvPicPr>
          <p:nvPr/>
        </p:nvPicPr>
        <p:blipFill>
          <a:blip r:embed="rId3"/>
          <a:stretch>
            <a:fillRect/>
          </a:stretch>
        </p:blipFill>
        <p:spPr>
          <a:xfrm>
            <a:off x="3500124" y="2629521"/>
            <a:ext cx="10745589" cy="64629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D33AD1-A1DB-42BD-891E-4B98731E87F1}"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5" name="Rectangle 4"/>
          <p:cNvSpPr/>
          <p:nvPr/>
        </p:nvSpPr>
        <p:spPr>
          <a:xfrm>
            <a:off x="257755" y="347641"/>
            <a:ext cx="17739300" cy="823752"/>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INTRODUCTION</a:t>
            </a:r>
          </a:p>
        </p:txBody>
      </p:sp>
      <p:sp>
        <p:nvSpPr>
          <p:cNvPr id="6" name="Rectangle 5"/>
          <p:cNvSpPr/>
          <p:nvPr/>
        </p:nvSpPr>
        <p:spPr>
          <a:xfrm>
            <a:off x="1030178" y="1571397"/>
            <a:ext cx="16227644" cy="7417415"/>
          </a:xfrm>
          <a:prstGeom prst="rect">
            <a:avLst/>
          </a:prstGeom>
        </p:spPr>
        <p:txBody>
          <a:bodyPr wrap="square">
            <a:spAutoFit/>
          </a:bodyPr>
          <a:lstStyle/>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tool combines generative AI capabilities with a user-friendly interface, enabling users to input text prompts and receive dynamic, high-quality storyboard frames tailored to their specifications. Beyond simple image generation, it offers features like frame count monitoring, adjustable picture quality, style options (e.g., black-and-white, cinematic, or comic book aesthetics), and additional creative enhancements to ensure the output is both functional and visually striking. The goal is to streamline workflows, foster collaboration, and unlock new creative possibilities by making professional-grade storyboarding accessible to everyone, regardless of artistic ability.</a:t>
            </a:r>
          </a:p>
          <a:p>
            <a:pPr marL="457200" indent="-457200">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creative industries of movies, games, and advertising rely heavily on the ability to transform ideas into compelling visual narratives, a process that traditionally demands significant time, skill, and resources. The AI-Powered Storyboard Creator emerges as a groundbreaking solution to address these challenges by automating the manual and time-consuming task of converting scripts into illustrative frames. Leveraging cutting-edge Natural Language Processing (NLP) and advanced text-to-image generation models, this tool delivers accurate, high-quality visuals that bring textual descriptions to life. Designed as an intuitive platform, it empowers creators to instantly visualize and refine their concepts, fostering a seamless creative workflow.</a:t>
            </a:r>
            <a:r>
              <a:rPr lang="en-IN"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It’s continuous learning ability ensures it adapts to user needs and evolving trends, making it a versatile and transformative asset for storytelling across multiple media domains.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793E80-B97A-4E4B-9704-9480A8EBE26D}"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5" name="Rectangle 4"/>
          <p:cNvSpPr/>
          <p:nvPr/>
        </p:nvSpPr>
        <p:spPr>
          <a:xfrm>
            <a:off x="713251" y="119919"/>
            <a:ext cx="16861497" cy="823752"/>
          </a:xfrm>
          <a:prstGeom prst="rect">
            <a:avLst/>
          </a:prstGeom>
        </p:spPr>
        <p:txBody>
          <a:bodyPr wrap="square">
            <a:spAutoFit/>
          </a:bodyPr>
          <a:lstStyle/>
          <a:p>
            <a:pPr lvl="1" algn="ctr">
              <a:lnSpc>
                <a:spcPct val="150000"/>
              </a:lnSpc>
            </a:pPr>
            <a:r>
              <a:rPr lang="en-IN" sz="3600" b="1" dirty="0">
                <a:latin typeface="Times New Roman" panose="02020603050405020304" pitchFamily="18" charset="0"/>
                <a:cs typeface="Times New Roman" panose="02020603050405020304" pitchFamily="18" charset="0"/>
              </a:rPr>
              <a:t>LITERATURE REVIEW</a:t>
            </a:r>
          </a:p>
        </p:txBody>
      </p:sp>
      <p:graphicFrame>
        <p:nvGraphicFramePr>
          <p:cNvPr id="9" name="Table 8"/>
          <p:cNvGraphicFramePr>
            <a:graphicFrameLocks noGrp="1"/>
          </p:cNvGraphicFramePr>
          <p:nvPr>
            <p:extLst>
              <p:ext uri="{D42A27DB-BD31-4B8C-83A1-F6EECF244321}">
                <p14:modId xmlns:p14="http://schemas.microsoft.com/office/powerpoint/2010/main" val="3375248669"/>
              </p:ext>
            </p:extLst>
          </p:nvPr>
        </p:nvGraphicFramePr>
        <p:xfrm>
          <a:off x="579653" y="1399993"/>
          <a:ext cx="17087130" cy="7009611"/>
        </p:xfrm>
        <a:graphic>
          <a:graphicData uri="http://schemas.openxmlformats.org/drawingml/2006/table">
            <a:tbl>
              <a:tblPr firstRow="1" bandRow="1">
                <a:tableStyleId>{5C22544A-7EE6-4342-B048-85BDC9FD1C3A}</a:tableStyleId>
              </a:tblPr>
              <a:tblGrid>
                <a:gridCol w="1143002">
                  <a:extLst>
                    <a:ext uri="{9D8B030D-6E8A-4147-A177-3AD203B41FA5}">
                      <a16:colId xmlns:a16="http://schemas.microsoft.com/office/drawing/2014/main" val="20000"/>
                    </a:ext>
                  </a:extLst>
                </a:gridCol>
                <a:gridCol w="3966945">
                  <a:extLst>
                    <a:ext uri="{9D8B030D-6E8A-4147-A177-3AD203B41FA5}">
                      <a16:colId xmlns:a16="http://schemas.microsoft.com/office/drawing/2014/main" val="20001"/>
                    </a:ext>
                  </a:extLst>
                </a:gridCol>
                <a:gridCol w="4965700">
                  <a:extLst>
                    <a:ext uri="{9D8B030D-6E8A-4147-A177-3AD203B41FA5}">
                      <a16:colId xmlns:a16="http://schemas.microsoft.com/office/drawing/2014/main" val="20002"/>
                    </a:ext>
                  </a:extLst>
                </a:gridCol>
                <a:gridCol w="2150991">
                  <a:extLst>
                    <a:ext uri="{9D8B030D-6E8A-4147-A177-3AD203B41FA5}">
                      <a16:colId xmlns:a16="http://schemas.microsoft.com/office/drawing/2014/main" val="20003"/>
                    </a:ext>
                  </a:extLst>
                </a:gridCol>
                <a:gridCol w="4860492">
                  <a:extLst>
                    <a:ext uri="{9D8B030D-6E8A-4147-A177-3AD203B41FA5}">
                      <a16:colId xmlns:a16="http://schemas.microsoft.com/office/drawing/2014/main" val="20004"/>
                    </a:ext>
                  </a:extLst>
                </a:gridCol>
              </a:tblGrid>
              <a:tr h="1477491">
                <a:tc>
                  <a:txBody>
                    <a:bodyPr/>
                    <a:lstStyle/>
                    <a:p>
                      <a:pPr algn="ctr"/>
                      <a:r>
                        <a:rPr lang="en-IN" sz="3200" dirty="0" err="1"/>
                        <a:t>Sl.No</a:t>
                      </a:r>
                      <a:endParaRPr lang="en-IN" sz="3200" dirty="0"/>
                    </a:p>
                  </a:txBody>
                  <a:tcPr/>
                </a:tc>
                <a:tc>
                  <a:txBody>
                    <a:bodyPr/>
                    <a:lstStyle/>
                    <a:p>
                      <a:pPr algn="ctr"/>
                      <a:r>
                        <a:rPr lang="en-IN" sz="3200" dirty="0"/>
                        <a:t>Author’s Name</a:t>
                      </a:r>
                    </a:p>
                  </a:txBody>
                  <a:tcPr/>
                </a:tc>
                <a:tc>
                  <a:txBody>
                    <a:bodyPr/>
                    <a:lstStyle/>
                    <a:p>
                      <a:pPr algn="ctr"/>
                      <a:r>
                        <a:rPr lang="en-IN" sz="3200" dirty="0"/>
                        <a:t>Paper name and</a:t>
                      </a:r>
                      <a:r>
                        <a:rPr lang="en-IN" sz="3200" baseline="0" dirty="0"/>
                        <a:t> publication details</a:t>
                      </a:r>
                      <a:endParaRPr lang="en-IN" sz="3200" dirty="0"/>
                    </a:p>
                  </a:txBody>
                  <a:tcPr/>
                </a:tc>
                <a:tc>
                  <a:txBody>
                    <a:bodyPr/>
                    <a:lstStyle/>
                    <a:p>
                      <a:pPr algn="ctr"/>
                      <a:r>
                        <a:rPr lang="en-IN" sz="3200" dirty="0"/>
                        <a:t>Year </a:t>
                      </a:r>
                      <a:r>
                        <a:rPr lang="en-IN" sz="3200" baseline="0" dirty="0"/>
                        <a:t> of publication</a:t>
                      </a:r>
                      <a:endParaRPr lang="en-IN" sz="3200" dirty="0"/>
                    </a:p>
                  </a:txBody>
                  <a:tcPr/>
                </a:tc>
                <a:tc>
                  <a:txBody>
                    <a:bodyPr/>
                    <a:lstStyle/>
                    <a:p>
                      <a:pPr algn="ctr"/>
                      <a:r>
                        <a:rPr lang="en-IN" sz="3200" dirty="0"/>
                        <a:t>Main content of the paper</a:t>
                      </a:r>
                    </a:p>
                  </a:txBody>
                  <a:tcPr/>
                </a:tc>
                <a:extLst>
                  <a:ext uri="{0D108BD9-81ED-4DB2-BD59-A6C34878D82A}">
                    <a16:rowId xmlns:a16="http://schemas.microsoft.com/office/drawing/2014/main" val="10000"/>
                  </a:ext>
                </a:extLst>
              </a:tr>
              <a:tr h="2529280">
                <a:tc>
                  <a:txBody>
                    <a:bodyPr/>
                    <a:lstStyle/>
                    <a:p>
                      <a:r>
                        <a:rPr lang="en-IN" dirty="0"/>
                        <a:t>1</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IN" dirty="0"/>
                        <a:t>Xu, T., Zhang, P., et al.</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a:t>
                      </a:r>
                      <a:r>
                        <a:rPr lang="en-US" dirty="0" err="1"/>
                        <a:t>AttnGAN</a:t>
                      </a:r>
                      <a:r>
                        <a:rPr lang="en-US" dirty="0"/>
                        <a:t>: Fine-Grained Text to Image Generation with Attention Mechanisms," </a:t>
                      </a:r>
                      <a:r>
                        <a:rPr lang="en-US" i="1" dirty="0"/>
                        <a:t>IEEE Transactions on Pattern Analysis and Machine Intelligence (TPAMI)</a:t>
                      </a:r>
                      <a:r>
                        <a:rPr lang="en-US" dirty="0"/>
                        <a:t>, vol. 41, no. 8, pp. 1929-1943</a:t>
                      </a:r>
                    </a:p>
                    <a:p>
                      <a:endParaRPr lang="en-IN" dirty="0"/>
                    </a:p>
                  </a:txBody>
                  <a:tcPr/>
                </a:tc>
                <a:tc>
                  <a:txBody>
                    <a:bodyPr/>
                    <a:lstStyle/>
                    <a:p>
                      <a:r>
                        <a:rPr lang="en-US" dirty="0"/>
                        <a:t>2019	</a:t>
                      </a:r>
                      <a:endParaRPr lang="en-IN" dirty="0"/>
                    </a:p>
                  </a:txBody>
                  <a:tcPr/>
                </a:tc>
                <a:tc>
                  <a:txBody>
                    <a:bodyPr/>
                    <a:lstStyle/>
                    <a:p>
                      <a:r>
                        <a:rPr lang="en-US" dirty="0"/>
                        <a:t>Introduces </a:t>
                      </a:r>
                      <a:r>
                        <a:rPr lang="en-US" dirty="0" err="1"/>
                        <a:t>AttnGAN</a:t>
                      </a:r>
                      <a:r>
                        <a:rPr lang="en-US" dirty="0"/>
                        <a:t>, a model that generates detailed images from text using attention mechanisms to focus on specific words, applicable to storyboard visualization.</a:t>
                      </a:r>
                      <a:endParaRPr lang="en-IN" dirty="0"/>
                    </a:p>
                  </a:txBody>
                  <a:tcPr/>
                </a:tc>
                <a:extLst>
                  <a:ext uri="{0D108BD9-81ED-4DB2-BD59-A6C34878D82A}">
                    <a16:rowId xmlns:a16="http://schemas.microsoft.com/office/drawing/2014/main" val="10001"/>
                  </a:ext>
                </a:extLst>
              </a:tr>
              <a:tr h="2179072">
                <a:tc>
                  <a:txBody>
                    <a:bodyPr/>
                    <a:lstStyle/>
                    <a:p>
                      <a:r>
                        <a:rPr lang="en-IN" dirty="0"/>
                        <a:t>2</a:t>
                      </a:r>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IN" dirty="0"/>
                        <a:t>Ramesh, A., Pavlov, M., et al.</a:t>
                      </a:r>
                    </a:p>
                    <a:p>
                      <a:endParaRPr lang="en-IN"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"Zero-Shot Text-to-Image Generation," </a:t>
                      </a:r>
                      <a:r>
                        <a:rPr lang="en-US" i="1" dirty="0"/>
                        <a:t>IEEE Conference on Computer Vision and Pattern Recognition (CVPR)</a:t>
                      </a:r>
                      <a:r>
                        <a:rPr lang="en-US" dirty="0"/>
                        <a:t>, pp. 11593-11603</a:t>
                      </a:r>
                    </a:p>
                    <a:p>
                      <a:endParaRPr lang="en-IN" dirty="0"/>
                    </a:p>
                  </a:txBody>
                  <a:tcPr/>
                </a:tc>
                <a:tc>
                  <a:txBody>
                    <a:bodyPr/>
                    <a:lstStyle/>
                    <a:p>
                      <a:r>
                        <a:rPr lang="en-US" dirty="0"/>
                        <a:t>2021</a:t>
                      </a:r>
                      <a:endParaRPr lang="en-IN"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Presents DALL-E, a zero-shot text-to-image model using transformers, enabling high-quality image generation for creative industries like movies and games.</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4580B6-7E50-494E-8953-305B339950C8}"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707990781"/>
              </p:ext>
            </p:extLst>
          </p:nvPr>
        </p:nvGraphicFramePr>
        <p:xfrm>
          <a:off x="615949" y="338281"/>
          <a:ext cx="17056101" cy="8747760"/>
        </p:xfrm>
        <a:graphic>
          <a:graphicData uri="http://schemas.openxmlformats.org/drawingml/2006/table">
            <a:tbl>
              <a:tblPr firstRow="1" bandRow="1">
                <a:tableStyleId>{5C22544A-7EE6-4342-B048-85BDC9FD1C3A}</a:tableStyleId>
              </a:tblPr>
              <a:tblGrid>
                <a:gridCol w="1261093">
                  <a:extLst>
                    <a:ext uri="{9D8B030D-6E8A-4147-A177-3AD203B41FA5}">
                      <a16:colId xmlns:a16="http://schemas.microsoft.com/office/drawing/2014/main" val="20000"/>
                    </a:ext>
                  </a:extLst>
                </a:gridCol>
                <a:gridCol w="3034285">
                  <a:extLst>
                    <a:ext uri="{9D8B030D-6E8A-4147-A177-3AD203B41FA5}">
                      <a16:colId xmlns:a16="http://schemas.microsoft.com/office/drawing/2014/main" val="20001"/>
                    </a:ext>
                  </a:extLst>
                </a:gridCol>
                <a:gridCol w="5799167">
                  <a:extLst>
                    <a:ext uri="{9D8B030D-6E8A-4147-A177-3AD203B41FA5}">
                      <a16:colId xmlns:a16="http://schemas.microsoft.com/office/drawing/2014/main" val="20002"/>
                    </a:ext>
                  </a:extLst>
                </a:gridCol>
                <a:gridCol w="2167306">
                  <a:extLst>
                    <a:ext uri="{9D8B030D-6E8A-4147-A177-3AD203B41FA5}">
                      <a16:colId xmlns:a16="http://schemas.microsoft.com/office/drawing/2014/main" val="20003"/>
                    </a:ext>
                  </a:extLst>
                </a:gridCol>
                <a:gridCol w="4794250">
                  <a:extLst>
                    <a:ext uri="{9D8B030D-6E8A-4147-A177-3AD203B41FA5}">
                      <a16:colId xmlns:a16="http://schemas.microsoft.com/office/drawing/2014/main" val="20004"/>
                    </a:ext>
                  </a:extLst>
                </a:gridCol>
              </a:tblGrid>
              <a:tr h="818396">
                <a:tc>
                  <a:txBody>
                    <a:bodyPr/>
                    <a:lstStyle/>
                    <a:p>
                      <a:r>
                        <a:rPr lang="en-US" sz="3200" dirty="0"/>
                        <a:t>S</a:t>
                      </a:r>
                      <a:r>
                        <a:rPr lang="en-IN" sz="3200" dirty="0" err="1"/>
                        <a:t>l.No</a:t>
                      </a:r>
                      <a:endParaRPr lang="en-IN" sz="3200" dirty="0"/>
                    </a:p>
                  </a:txBody>
                  <a:tcPr/>
                </a:tc>
                <a:tc>
                  <a:txBody>
                    <a:bodyPr/>
                    <a:lstStyle/>
                    <a:p>
                      <a:r>
                        <a:rPr lang="en-US" sz="3200" dirty="0"/>
                        <a:t>Author’s Name</a:t>
                      </a:r>
                      <a:endParaRPr lang="en-IN" sz="3200"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IN" sz="3200" dirty="0"/>
                        <a:t>Paper name and</a:t>
                      </a:r>
                      <a:r>
                        <a:rPr lang="en-IN" sz="3200" baseline="0" dirty="0"/>
                        <a:t> publication details</a:t>
                      </a:r>
                      <a:endParaRPr lang="en-IN" sz="3200" dirty="0"/>
                    </a:p>
                    <a:p>
                      <a:endParaRPr lang="en-IN" dirty="0"/>
                    </a:p>
                  </a:txBody>
                  <a:tcPr/>
                </a:tc>
                <a:tc>
                  <a:txBody>
                    <a:bodyPr/>
                    <a:lstStyle/>
                    <a:p>
                      <a:r>
                        <a:rPr lang="en-US" sz="3200" dirty="0"/>
                        <a:t>Year of Publication</a:t>
                      </a:r>
                      <a:endParaRPr lang="en-IN" sz="3200"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IN" sz="3200" dirty="0"/>
                        <a:t>Main content of the paper</a:t>
                      </a:r>
                    </a:p>
                  </a:txBody>
                  <a:tcPr/>
                </a:tc>
                <a:extLst>
                  <a:ext uri="{0D108BD9-81ED-4DB2-BD59-A6C34878D82A}">
                    <a16:rowId xmlns:a16="http://schemas.microsoft.com/office/drawing/2014/main" val="10000"/>
                  </a:ext>
                </a:extLst>
              </a:tr>
              <a:tr h="818396">
                <a:tc>
                  <a:txBody>
                    <a:bodyPr/>
                    <a:lstStyle/>
                    <a:p>
                      <a:r>
                        <a:rPr lang="en-US" dirty="0"/>
                        <a:t>3</a:t>
                      </a:r>
                      <a:endParaRPr lang="en-IN"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IN" dirty="0"/>
                        <a:t>Li, Y., Zhang, R., et al</a:t>
                      </a:r>
                    </a:p>
                    <a:p>
                      <a:endParaRPr lang="en-IN"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a:t>
                      </a:r>
                      <a:r>
                        <a:rPr lang="en-US" dirty="0" err="1"/>
                        <a:t>StoryGAN</a:t>
                      </a:r>
                      <a:r>
                        <a:rPr lang="en-US" dirty="0"/>
                        <a:t>: A Sequential Conditional GAN for Story Visualization," </a:t>
                      </a:r>
                      <a:r>
                        <a:rPr lang="en-US" i="1" dirty="0"/>
                        <a:t>IEEE Conference on Computer Vision and Pattern Recognition (CVPR)</a:t>
                      </a:r>
                      <a:r>
                        <a:rPr lang="en-US" dirty="0"/>
                        <a:t>, pp. 6329-6338</a:t>
                      </a:r>
                    </a:p>
                    <a:p>
                      <a:endParaRPr lang="en-IN" dirty="0"/>
                    </a:p>
                  </a:txBody>
                  <a:tcPr/>
                </a:tc>
                <a:tc>
                  <a:txBody>
                    <a:bodyPr/>
                    <a:lstStyle/>
                    <a:p>
                      <a:r>
                        <a:rPr lang="en-US" dirty="0"/>
                        <a:t>2019</a:t>
                      </a:r>
                      <a:endParaRPr lang="en-IN"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Proposes </a:t>
                      </a:r>
                      <a:r>
                        <a:rPr lang="en-US" dirty="0" err="1"/>
                        <a:t>StoryGAN</a:t>
                      </a:r>
                      <a:r>
                        <a:rPr lang="en-US" dirty="0"/>
                        <a:t>, a generative adversarial network (GAN) for sequential image generation from text, ideal for creating coherent storyboards for narratives.</a:t>
                      </a:r>
                    </a:p>
                    <a:p>
                      <a:pPr marL="0" marR="0" lvl="0" indent="0" algn="l" defTabSz="13716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0001"/>
                  </a:ext>
                </a:extLst>
              </a:tr>
              <a:tr h="818396">
                <a:tc>
                  <a:txBody>
                    <a:bodyPr/>
                    <a:lstStyle/>
                    <a:p>
                      <a:r>
                        <a:rPr lang="en-US" dirty="0"/>
                        <a:t>4</a:t>
                      </a:r>
                      <a:endParaRPr lang="en-IN" dirty="0"/>
                    </a:p>
                  </a:txBody>
                  <a:tcPr/>
                </a:tc>
                <a:tc>
                  <a:txBody>
                    <a:bodyPr/>
                    <a:lstStyle/>
                    <a:p>
                      <a:r>
                        <a:rPr lang="da-DK" dirty="0"/>
                        <a:t>Zhang, H., Koh, J. Y., et al.</a:t>
                      </a:r>
                      <a:endParaRPr lang="en-IN"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"Cross-Modal Contrastive Learning for Text-to-Image Generation," </a:t>
                      </a:r>
                      <a:r>
                        <a:rPr lang="en-US" i="1" dirty="0"/>
                        <a:t>IEEE Conference on Computer Vision and Pattern Recognition (CVPR)</a:t>
                      </a:r>
                      <a:r>
                        <a:rPr lang="en-US" dirty="0"/>
                        <a:t>, pp. 833-842</a:t>
                      </a:r>
                    </a:p>
                    <a:p>
                      <a:endParaRPr lang="en-IN" dirty="0"/>
                    </a:p>
                  </a:txBody>
                  <a:tcPr/>
                </a:tc>
                <a:tc>
                  <a:txBody>
                    <a:bodyPr/>
                    <a:lstStyle/>
                    <a:p>
                      <a:r>
                        <a:rPr lang="en-US" dirty="0"/>
                        <a:t>2021</a:t>
                      </a:r>
                      <a:endParaRPr lang="en-IN" dirty="0"/>
                    </a:p>
                  </a:txBody>
                  <a:tcPr/>
                </a:tc>
                <a:tc>
                  <a:txBody>
                    <a:bodyPr/>
                    <a:lstStyle/>
                    <a:p>
                      <a:pPr marL="0" marR="0" lvl="0" indent="0" algn="l" defTabSz="1371600" rtl="0" eaLnBrk="1" fontAlgn="auto" latinLnBrk="0" hangingPunct="1">
                        <a:lnSpc>
                          <a:spcPct val="100000"/>
                        </a:lnSpc>
                        <a:spcBef>
                          <a:spcPts val="0"/>
                        </a:spcBef>
                        <a:spcAft>
                          <a:spcPts val="0"/>
                        </a:spcAft>
                        <a:buClrTx/>
                        <a:buSzTx/>
                        <a:buFontTx/>
                        <a:buNone/>
                        <a:tabLst/>
                        <a:defRPr/>
                      </a:pPr>
                      <a:r>
                        <a:rPr lang="en-US" dirty="0"/>
                        <a:t>Introduces a contrastive learning approach to align text and image features, improving the accuracy of text-to-image synthesis for advertising and games.</a:t>
                      </a:r>
                    </a:p>
                  </a:txBody>
                  <a:tcPr/>
                </a:tc>
                <a:extLst>
                  <a:ext uri="{0D108BD9-81ED-4DB2-BD59-A6C34878D82A}">
                    <a16:rowId xmlns:a16="http://schemas.microsoft.com/office/drawing/2014/main" val="10002"/>
                  </a:ext>
                </a:extLst>
              </a:tr>
              <a:tr h="818396">
                <a:tc>
                  <a:txBody>
                    <a:bodyPr/>
                    <a:lstStyle/>
                    <a:p>
                      <a:r>
                        <a:rPr lang="en-US" dirty="0"/>
                        <a:t>5</a:t>
                      </a:r>
                      <a:endParaRPr lang="en-IN" dirty="0"/>
                    </a:p>
                  </a:txBody>
                  <a:tcPr/>
                </a:tc>
                <a:tc>
                  <a:txBody>
                    <a:bodyPr/>
                    <a:lstStyle/>
                    <a:p>
                      <a:r>
                        <a:rPr lang="en-IN" dirty="0"/>
                        <a:t>Ho, J., Jain, A., et al.</a:t>
                      </a:r>
                    </a:p>
                  </a:txBody>
                  <a:tcPr/>
                </a:tc>
                <a:tc>
                  <a:txBody>
                    <a:bodyPr/>
                    <a:lstStyle/>
                    <a:p>
                      <a:r>
                        <a:rPr lang="en-US" dirty="0"/>
                        <a:t>"Denoising Diffusion Probabilistic Models," IEEE Transactions on Neural Networks and Learning Systems (TNNLS), vol. 33, no. 10</a:t>
                      </a:r>
                      <a:endParaRPr lang="en-IN" dirty="0"/>
                    </a:p>
                  </a:txBody>
                  <a:tcPr/>
                </a:tc>
                <a:tc>
                  <a:txBody>
                    <a:bodyPr/>
                    <a:lstStyle/>
                    <a:p>
                      <a:r>
                        <a:rPr lang="en-US" dirty="0"/>
                        <a:t>2022</a:t>
                      </a:r>
                      <a:endParaRPr lang="en-IN" dirty="0"/>
                    </a:p>
                  </a:txBody>
                  <a:tcPr/>
                </a:tc>
                <a:tc>
                  <a:txBody>
                    <a:bodyPr/>
                    <a:lstStyle/>
                    <a:p>
                      <a:r>
                        <a:rPr lang="en-US" dirty="0"/>
                        <a:t>Describes diffusion models for high-quality image generation, a foundational technique for modern text-to-image tools used in creative storyboard creation.</a:t>
                      </a:r>
                      <a:endParaRPr lang="en-IN"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FD4D63-79A1-46D1-83E1-5624225EBFEF}"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5" name="Rectangle 4"/>
          <p:cNvSpPr/>
          <p:nvPr/>
        </p:nvSpPr>
        <p:spPr>
          <a:xfrm>
            <a:off x="5217187" y="371848"/>
            <a:ext cx="7853625" cy="823752"/>
          </a:xfrm>
          <a:prstGeom prst="rect">
            <a:avLst/>
          </a:prstGeom>
        </p:spPr>
        <p:txBody>
          <a:bodyPr wrap="none">
            <a:spAutoFit/>
          </a:bodyPr>
          <a:lstStyle/>
          <a:p>
            <a:pPr lvl="1">
              <a:lnSpc>
                <a:spcPct val="150000"/>
              </a:lnSpc>
            </a:pPr>
            <a:r>
              <a:rPr lang="en-IN" sz="3600" b="1" dirty="0">
                <a:latin typeface="Times New Roman" panose="02020603050405020304" pitchFamily="18" charset="0"/>
                <a:cs typeface="Times New Roman" panose="02020603050405020304" pitchFamily="18" charset="0"/>
              </a:rPr>
              <a:t>DESIGN AND METHODOLOGIES</a:t>
            </a:r>
          </a:p>
        </p:txBody>
      </p:sp>
      <p:sp>
        <p:nvSpPr>
          <p:cNvPr id="6" name="Rectangle 5"/>
          <p:cNvSpPr/>
          <p:nvPr/>
        </p:nvSpPr>
        <p:spPr>
          <a:xfrm>
            <a:off x="2327564" y="2451207"/>
            <a:ext cx="13487400" cy="3903504"/>
          </a:xfrm>
          <a:prstGeom prst="rect">
            <a:avLst/>
          </a:prstGeom>
        </p:spPr>
        <p:txBody>
          <a:bodyPr wrap="square">
            <a:spAutoFit/>
          </a:bodyPr>
          <a:lstStyle/>
          <a:p>
            <a:pPr>
              <a:lnSpc>
                <a:spcPct val="150000"/>
              </a:lnSpc>
              <a:buFont typeface="Wingdings" panose="05000000000000000000" pitchFamily="2" charset="2"/>
              <a:buChar char="Ø"/>
            </a:pPr>
            <a:r>
              <a:rPr lang="en-US" sz="2800" b="1" i="0" dirty="0">
                <a:effectLst/>
                <a:latin typeface="Calibri" panose="020F0502020204030204" pitchFamily="34" charset="0"/>
                <a:cs typeface="Calibri" panose="020F0502020204030204" pitchFamily="34" charset="0"/>
              </a:rPr>
              <a:t>MODULE 1: </a:t>
            </a:r>
            <a:r>
              <a:rPr lang="en-US" sz="2800" i="0" dirty="0">
                <a:effectLst/>
                <a:latin typeface="Calibri" panose="020F0502020204030204" pitchFamily="34" charset="0"/>
                <a:cs typeface="Calibri" panose="020F0502020204030204" pitchFamily="34" charset="0"/>
              </a:rPr>
              <a:t>Text Processing and Scene Interpretation</a:t>
            </a:r>
          </a:p>
          <a:p>
            <a:pPr>
              <a:lnSpc>
                <a:spcPct val="150000"/>
              </a:lnSpc>
              <a:buFont typeface="Wingdings" panose="05000000000000000000" pitchFamily="2" charset="2"/>
              <a:buChar char="Ø"/>
            </a:pPr>
            <a:r>
              <a:rPr lang="en-US" sz="2800" b="1" i="0" dirty="0">
                <a:effectLst/>
                <a:latin typeface="Calibri" panose="020F0502020204030204" pitchFamily="34" charset="0"/>
                <a:cs typeface="Calibri" panose="020F0502020204030204" pitchFamily="34" charset="0"/>
              </a:rPr>
              <a:t>MODULE 2: </a:t>
            </a:r>
            <a:r>
              <a:rPr lang="en-IN" sz="2800" i="0" dirty="0">
                <a:effectLst/>
                <a:latin typeface="__Inter_2b114f"/>
              </a:rPr>
              <a:t>Text-to-Image Generation Engine</a:t>
            </a:r>
            <a:endParaRPr lang="en-US" sz="2800" dirty="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Ø"/>
            </a:pPr>
            <a:r>
              <a:rPr lang="en-US" sz="2800" b="1" i="0" dirty="0">
                <a:effectLst/>
                <a:latin typeface="Calibri" panose="020F0502020204030204" pitchFamily="34" charset="0"/>
                <a:cs typeface="Calibri" panose="020F0502020204030204" pitchFamily="34" charset="0"/>
              </a:rPr>
              <a:t>MODULE 3: </a:t>
            </a:r>
            <a:r>
              <a:rPr lang="en-IN" sz="2800" i="0" dirty="0">
                <a:effectLst/>
                <a:latin typeface="__Inter_2b114f"/>
              </a:rPr>
              <a:t>Style and Genre Adaptation</a:t>
            </a:r>
            <a:endParaRPr lang="en-US" sz="2800" dirty="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Ø"/>
            </a:pPr>
            <a:r>
              <a:rPr lang="en-US" sz="2800" b="1" i="0" dirty="0">
                <a:effectLst/>
                <a:latin typeface="Calibri" panose="020F0502020204030204" pitchFamily="34" charset="0"/>
                <a:cs typeface="Calibri" panose="020F0502020204030204" pitchFamily="34" charset="0"/>
              </a:rPr>
              <a:t>MODULE 4: </a:t>
            </a:r>
            <a:r>
              <a:rPr lang="en-IN" sz="2800" i="0" dirty="0">
                <a:effectLst/>
                <a:latin typeface="__Inter_2b114f"/>
              </a:rPr>
              <a:t>Sequential Narrative Alignment</a:t>
            </a:r>
            <a:endParaRPr lang="en-US" sz="2800" dirty="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Ø"/>
            </a:pPr>
            <a:r>
              <a:rPr lang="en-US" sz="2800" b="1" i="0" dirty="0">
                <a:effectLst/>
                <a:latin typeface="Calibri" panose="020F0502020204030204" pitchFamily="34" charset="0"/>
                <a:cs typeface="Calibri" panose="020F0502020204030204" pitchFamily="34" charset="0"/>
              </a:rPr>
              <a:t>MODULE 5: </a:t>
            </a:r>
            <a:r>
              <a:rPr lang="en-US" sz="2800" i="0" dirty="0">
                <a:effectLst/>
                <a:latin typeface="__Inter_2b114f"/>
              </a:rPr>
              <a:t>User Interface and Real-Time Editing</a:t>
            </a:r>
            <a:endParaRPr lang="en-US" sz="2800" dirty="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Ø"/>
            </a:pPr>
            <a:r>
              <a:rPr lang="en-US" sz="2800" b="1" i="0" dirty="0">
                <a:effectLst/>
                <a:latin typeface="Calibri" panose="020F0502020204030204" pitchFamily="34" charset="0"/>
                <a:cs typeface="Calibri" panose="020F0502020204030204" pitchFamily="34" charset="0"/>
              </a:rPr>
              <a:t>MODULE 6: </a:t>
            </a:r>
            <a:r>
              <a:rPr lang="en-IN" sz="2800" i="0" dirty="0">
                <a:effectLst/>
                <a:latin typeface="__Inter_2b114f"/>
              </a:rPr>
              <a:t>Integration and Export Compatibility</a:t>
            </a:r>
            <a:endParaRPr lang="en-US" sz="2800" dirty="0">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881868-A2D6-4497-9A4E-E2871D6CD040}"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6" name="Rectangle 5"/>
          <p:cNvSpPr/>
          <p:nvPr/>
        </p:nvSpPr>
        <p:spPr>
          <a:xfrm>
            <a:off x="801060" y="698561"/>
            <a:ext cx="16988176" cy="6186309"/>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MODULE 1</a:t>
            </a:r>
            <a:r>
              <a:rPr lang="en-US" sz="2800" b="1" dirty="0">
                <a:latin typeface="Times New Roman" panose="02020603050405020304" pitchFamily="18" charset="0"/>
                <a:cs typeface="Times New Roman" panose="02020603050405020304" pitchFamily="18" charset="0"/>
              </a:rPr>
              <a:t>: </a:t>
            </a:r>
            <a:r>
              <a:rPr lang="en-US" sz="3000" i="0" dirty="0">
                <a:effectLst/>
                <a:latin typeface="Times New Roman" panose="02020603050405020304" pitchFamily="18" charset="0"/>
                <a:cs typeface="Times New Roman" panose="02020603050405020304" pitchFamily="18" charset="0"/>
              </a:rPr>
              <a:t>Text Processing and Scene Interpretation</a:t>
            </a:r>
            <a:endParaRPr lang="en-US" sz="3000" dirty="0">
              <a:latin typeface="Times New Roman" panose="02020603050405020304" pitchFamily="18" charset="0"/>
              <a:cs typeface="Times New Roman" panose="02020603050405020304" pitchFamily="18" charset="0"/>
            </a:endParaRPr>
          </a:p>
          <a:p>
            <a:endParaRPr lang="en-US" sz="30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sz="2500" b="1" dirty="0">
                <a:latin typeface="Times New Roman" panose="02020603050405020304" pitchFamily="18" charset="0"/>
                <a:cs typeface="Times New Roman" panose="02020603050405020304" pitchFamily="18" charset="0"/>
              </a:rPr>
              <a:t>Step:1 Collection of data</a:t>
            </a:r>
          </a:p>
          <a:p>
            <a:r>
              <a:rPr lang="en-US" sz="2400" dirty="0">
                <a:latin typeface="Times New Roman" panose="02020603050405020304" pitchFamily="18" charset="0"/>
                <a:cs typeface="Times New Roman" panose="02020603050405020304" pitchFamily="18" charset="0"/>
              </a:rPr>
              <a:t>The initial phase of Module 1 involves gathering a comprehensive dataset to train the Natural Language Processing (NLP) models for text processing and scene interpretation. The dataset includes a diverse collection of scripts, screenplays, and narrative descriptions from movies, games, and advertisements, paired with corresponding storyboard images where available. Additionally, annotated text data with labeled entities (e.g., characters, actions, settings, and emotions) is curated to enable the AI to understand narrative context. Publicly available datasets like the </a:t>
            </a:r>
            <a:r>
              <a:rPr lang="en-US" sz="2400" dirty="0" err="1">
                <a:latin typeface="Times New Roman" panose="02020603050405020304" pitchFamily="18" charset="0"/>
                <a:cs typeface="Times New Roman" panose="02020603050405020304" pitchFamily="18" charset="0"/>
              </a:rPr>
              <a:t>MovieScript</a:t>
            </a:r>
            <a:r>
              <a:rPr lang="en-US" sz="2400" dirty="0">
                <a:latin typeface="Times New Roman" panose="02020603050405020304" pitchFamily="18" charset="0"/>
                <a:cs typeface="Times New Roman" panose="02020603050405020304" pitchFamily="18" charset="0"/>
              </a:rPr>
              <a:t> dataset, game narrative repositories, and advertising copy libraries are utilized, alongside custom datasets created.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E4EB6593-EC38-92D0-30A8-8DFA51F90813}"/>
              </a:ext>
            </a:extLst>
          </p:cNvPr>
          <p:cNvPicPr>
            <a:picLocks noChangeAspect="1"/>
          </p:cNvPicPr>
          <p:nvPr/>
        </p:nvPicPr>
        <p:blipFill>
          <a:blip r:embed="rId2"/>
          <a:stretch>
            <a:fillRect/>
          </a:stretch>
        </p:blipFill>
        <p:spPr>
          <a:xfrm>
            <a:off x="4490957" y="4460105"/>
            <a:ext cx="9075142" cy="484952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B766D0-9117-492A-B94C-29BF3C920DF2}"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5" name="Rectangle 4"/>
          <p:cNvSpPr/>
          <p:nvPr/>
        </p:nvSpPr>
        <p:spPr>
          <a:xfrm>
            <a:off x="706621" y="381227"/>
            <a:ext cx="16631681" cy="3816429"/>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Step 2:Scene Interpretation</a:t>
            </a:r>
          </a:p>
          <a:p>
            <a:endParaRPr lang="en-US" sz="28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Following the collection of data, this step focuses on interpreting the textual descriptions to extract meaningful scene components for storyboard generation. Advanced Natural Language Processing (NLP) techniques are employed, utilizing transformer-based models such as BERT and </a:t>
            </a:r>
            <a:r>
              <a:rPr lang="en-US" sz="2400" dirty="0" err="1">
                <a:latin typeface="Times New Roman" panose="02020603050405020304" pitchFamily="18" charset="0"/>
                <a:cs typeface="Times New Roman" panose="02020603050405020304" pitchFamily="18" charset="0"/>
              </a:rPr>
              <a:t>RoBERT</a:t>
            </a:r>
            <a:r>
              <a:rPr lang="en-US" sz="2400" dirty="0">
                <a:latin typeface="Times New Roman" panose="02020603050405020304" pitchFamily="18" charset="0"/>
                <a:cs typeface="Times New Roman" panose="02020603050405020304" pitchFamily="18" charset="0"/>
              </a:rPr>
              <a:t> to analyze the input scripts. The process involves several sub-tasks: </a:t>
            </a:r>
          </a:p>
          <a:p>
            <a:pPr marL="342900" indent="-342900">
              <a:buAutoNum type="arabicParenBoth"/>
            </a:pPr>
            <a:r>
              <a:rPr lang="en-US" sz="2400" b="1" dirty="0">
                <a:latin typeface="Times New Roman" panose="02020603050405020304" pitchFamily="18" charset="0"/>
                <a:cs typeface="Times New Roman" panose="02020603050405020304" pitchFamily="18" charset="0"/>
              </a:rPr>
              <a:t>Entity Extraction</a:t>
            </a:r>
            <a:r>
              <a:rPr lang="en-US" sz="2400" dirty="0">
                <a:latin typeface="Times New Roman" panose="02020603050405020304" pitchFamily="18" charset="0"/>
                <a:cs typeface="Times New Roman" panose="02020603050405020304" pitchFamily="18" charset="0"/>
              </a:rPr>
              <a:t>, where key elements like characters, actions, settings, and objects are identified (e.g., "A hero stands on a cliff at sunset" identifies "hero" as the character, "stands" as the action, "cliff" as the setting, and "sunset" as the time).</a:t>
            </a:r>
          </a:p>
          <a:p>
            <a:pPr marL="342900" indent="-342900">
              <a:buAutoNum type="arabicParenBoth"/>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Sentiment and Tone Analysis</a:t>
            </a:r>
            <a:r>
              <a:rPr lang="en-US" sz="2400" dirty="0">
                <a:latin typeface="Times New Roman" panose="02020603050405020304" pitchFamily="18" charset="0"/>
                <a:cs typeface="Times New Roman" panose="02020603050405020304" pitchFamily="18" charset="0"/>
              </a:rPr>
              <a:t>, to capture the emotional context of the scene (e.g., "determined" or "tense").</a:t>
            </a:r>
          </a:p>
          <a:p>
            <a:pPr marL="342900" indent="-342900">
              <a:buAutoNum type="arabicParenBoth"/>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Dependency Parsing</a:t>
            </a:r>
            <a:r>
              <a:rPr lang="en-US" sz="2400" dirty="0">
                <a:latin typeface="Times New Roman" panose="02020603050405020304" pitchFamily="18" charset="0"/>
                <a:cs typeface="Times New Roman" panose="02020603050405020304" pitchFamily="18" charset="0"/>
              </a:rPr>
              <a:t>, to understand the relationships between entities and actions for accurate scene composition. </a:t>
            </a:r>
          </a:p>
          <a:p>
            <a:endParaRPr lang="en-IN" dirty="0"/>
          </a:p>
        </p:txBody>
      </p:sp>
      <p:pic>
        <p:nvPicPr>
          <p:cNvPr id="10" name="Picture 9">
            <a:extLst>
              <a:ext uri="{FF2B5EF4-FFF2-40B4-BE49-F238E27FC236}">
                <a16:creationId xmlns:a16="http://schemas.microsoft.com/office/drawing/2014/main" id="{E8ADA65E-1DB7-9183-6829-F97F3F0E7788}"/>
              </a:ext>
            </a:extLst>
          </p:cNvPr>
          <p:cNvPicPr>
            <a:picLocks noChangeAspect="1"/>
          </p:cNvPicPr>
          <p:nvPr/>
        </p:nvPicPr>
        <p:blipFill>
          <a:blip r:embed="rId2"/>
          <a:stretch>
            <a:fillRect/>
          </a:stretch>
        </p:blipFill>
        <p:spPr>
          <a:xfrm>
            <a:off x="4231734" y="4042540"/>
            <a:ext cx="9824531" cy="493670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D43E60-2451-4B99-BD16-F32D5DE0A63F}"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5" name="TextBox 4"/>
          <p:cNvSpPr txBox="1"/>
          <p:nvPr/>
        </p:nvSpPr>
        <p:spPr>
          <a:xfrm>
            <a:off x="789709" y="457200"/>
            <a:ext cx="16895618" cy="3323987"/>
          </a:xfrm>
          <a:prstGeom prst="rect">
            <a:avLst/>
          </a:prstGeom>
          <a:noFill/>
        </p:spPr>
        <p:txBody>
          <a:bodyPr wrap="square" rtlCol="0">
            <a:spAutoFit/>
          </a:bodyPr>
          <a:lstStyle/>
          <a:p>
            <a:r>
              <a:rPr lang="en-IN" sz="2800" b="1" dirty="0"/>
              <a:t>                                                            </a:t>
            </a:r>
            <a:r>
              <a:rPr lang="en-IN" sz="3600" b="1" dirty="0">
                <a:latin typeface="Times New Roman" panose="02020603050405020304" pitchFamily="18" charset="0"/>
                <a:cs typeface="Times New Roman" panose="02020603050405020304" pitchFamily="18" charset="0"/>
              </a:rPr>
              <a:t>MODULE 2-</a:t>
            </a:r>
            <a:r>
              <a:rPr lang="en-IN" sz="3600" i="0" dirty="0">
                <a:effectLst/>
                <a:latin typeface="Times New Roman" panose="02020603050405020304" pitchFamily="18" charset="0"/>
                <a:cs typeface="Times New Roman" panose="02020603050405020304" pitchFamily="18" charset="0"/>
              </a:rPr>
              <a:t> Text-to-Image Generation Engine</a:t>
            </a:r>
            <a:endParaRPr lang="en-IN" sz="3600" b="1" dirty="0">
              <a:latin typeface="Times New Roman" panose="02020603050405020304" pitchFamily="18" charset="0"/>
              <a:cs typeface="Times New Roman" panose="02020603050405020304" pitchFamily="18" charset="0"/>
            </a:endParaRPr>
          </a:p>
          <a:p>
            <a:endParaRPr lang="en-IN" dirty="0"/>
          </a:p>
          <a:p>
            <a:endParaRPr lang="en-IN" dirty="0"/>
          </a:p>
          <a:p>
            <a:r>
              <a:rPr lang="en-US" sz="2400" dirty="0">
                <a:latin typeface="Times New Roman" panose="02020603050405020304" pitchFamily="18" charset="0"/>
                <a:cs typeface="Times New Roman" panose="02020603050405020304" pitchFamily="18" charset="0"/>
              </a:rPr>
              <a:t>This module forms the core of the AI-Powered Storyboard Creator, responsible for transforming the structured textual data from Module 1 into high-quality visual storyboard frames. It leverages state-of-the-art generative AI models to bridge the gap between text and imagery, ensuring that the generated visuals accurately reflect the narrative context for applications in movies, games, and advertisements. It consists of processes like extraction of semantic features from text, generator, discriminator, trained samples with loss data and real samples.</a:t>
            </a:r>
          </a:p>
          <a:p>
            <a:endParaRPr lang="en-IN" dirty="0"/>
          </a:p>
        </p:txBody>
      </p:sp>
      <p:pic>
        <p:nvPicPr>
          <p:cNvPr id="2050" name="Picture 2" descr="Text-to-Image Generation Using Deep Learning">
            <a:extLst>
              <a:ext uri="{FF2B5EF4-FFF2-40B4-BE49-F238E27FC236}">
                <a16:creationId xmlns:a16="http://schemas.microsoft.com/office/drawing/2014/main" id="{4BAA3D04-6A87-C71E-C015-1EA99C0D1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6789" y="3439886"/>
            <a:ext cx="9229497" cy="54984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C54A78-B205-409C-9B01-7EC2A48F4570}"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5" name="Rectangle 4"/>
          <p:cNvSpPr/>
          <p:nvPr/>
        </p:nvSpPr>
        <p:spPr>
          <a:xfrm>
            <a:off x="1178852" y="573871"/>
            <a:ext cx="15874708" cy="4262705"/>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MODULE 3: Style and Genre Adaption</a:t>
            </a:r>
          </a:p>
          <a:p>
            <a:endParaRPr lang="en-US" sz="3200" b="1" dirty="0">
              <a:latin typeface="Times New Roman" panose="02020603050405020304" pitchFamily="18" charset="0"/>
              <a:cs typeface="Times New Roman" panose="02020603050405020304" pitchFamily="18" charset="0"/>
            </a:endParaRPr>
          </a:p>
          <a:p>
            <a:pPr>
              <a:buNone/>
            </a:pPr>
            <a:r>
              <a:rPr lang="en-US" sz="2500" dirty="0">
                <a:latin typeface="Times New Roman" panose="02020603050405020304" pitchFamily="18" charset="0"/>
                <a:cs typeface="Times New Roman" panose="02020603050405020304" pitchFamily="18" charset="0"/>
              </a:rPr>
              <a:t>This module ensures that the AI-Powered Storyboard Creator can adapt its visual outputs to a wide range of styles and genres, catering to the diverse needs of movies, games, and advertisements. By enabling the tool to generate images in styles such as cinematic realism, stylized game art, or sleek advertising visuals, this module enhances the flexibility and applicability of the storyboard creator. </a:t>
            </a:r>
            <a:r>
              <a:rPr lang="en-US" sz="2500" dirty="0">
                <a:effectLst/>
                <a:latin typeface="Times New Roman" panose="02020603050405020304" pitchFamily="18" charset="0"/>
                <a:cs typeface="Times New Roman" panose="02020603050405020304" pitchFamily="18" charset="0"/>
              </a:rPr>
              <a:t>The process is broken down into the following steps:</a:t>
            </a:r>
          </a:p>
          <a:p>
            <a:r>
              <a:rPr lang="en-US" sz="2500" dirty="0">
                <a:effectLst/>
                <a:latin typeface="Times New Roman" panose="02020603050405020304" pitchFamily="18" charset="0"/>
                <a:cs typeface="Times New Roman" panose="02020603050405020304" pitchFamily="18" charset="0"/>
              </a:rPr>
              <a:t>Step 1: Style Dataset Curation</a:t>
            </a:r>
          </a:p>
          <a:p>
            <a:r>
              <a:rPr lang="en-US" sz="2500" dirty="0">
                <a:latin typeface="Times New Roman" panose="02020603050405020304" pitchFamily="18" charset="0"/>
                <a:cs typeface="Times New Roman" panose="02020603050405020304" pitchFamily="18" charset="0"/>
              </a:rPr>
              <a:t>Step 2: Style Embedding and Conditioning</a:t>
            </a:r>
          </a:p>
          <a:p>
            <a:r>
              <a:rPr lang="en-US" sz="2500" dirty="0">
                <a:latin typeface="Times New Roman" panose="02020603050405020304" pitchFamily="18" charset="0"/>
                <a:cs typeface="Times New Roman" panose="02020603050405020304" pitchFamily="18" charset="0"/>
              </a:rPr>
              <a:t>Step 3: Style Transfer and Fine Tuning</a:t>
            </a:r>
          </a:p>
          <a:p>
            <a:endParaRPr lang="en-IN" sz="2800" b="1"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267F29C4-486F-3C8C-D150-B2575FF9E5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0945" y="4328160"/>
            <a:ext cx="5772539" cy="441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41C322-5B47-916E-CA0B-FE69109A7634}"/>
              </a:ext>
            </a:extLst>
          </p:cNvPr>
          <p:cNvSpPr>
            <a:spLocks noGrp="1"/>
          </p:cNvSpPr>
          <p:nvPr>
            <p:ph type="dt" sz="half" idx="10"/>
          </p:nvPr>
        </p:nvSpPr>
        <p:spPr/>
        <p:txBody>
          <a:bodyPr/>
          <a:lstStyle/>
          <a:p>
            <a:fld id="{8DA921BA-A15C-4BC8-91EF-7DD7A18AA2B0}" type="datetime4">
              <a:rPr lang="en-US" smtClean="0"/>
              <a:t>May 3, 2025</a:t>
            </a:fld>
            <a:endParaRPr lang="en-US"/>
          </a:p>
        </p:txBody>
      </p:sp>
      <p:sp>
        <p:nvSpPr>
          <p:cNvPr id="3" name="Footer Placeholder 2">
            <a:extLst>
              <a:ext uri="{FF2B5EF4-FFF2-40B4-BE49-F238E27FC236}">
                <a16:creationId xmlns:a16="http://schemas.microsoft.com/office/drawing/2014/main" id="{2C4F1280-32A4-D4C0-D682-F302C42FB0FB}"/>
              </a:ext>
            </a:extLst>
          </p:cNvPr>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a:extLst>
              <a:ext uri="{FF2B5EF4-FFF2-40B4-BE49-F238E27FC236}">
                <a16:creationId xmlns:a16="http://schemas.microsoft.com/office/drawing/2014/main" id="{732D1EBA-BDC0-054E-CEEB-8D4122C290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5" name="Rectangle 4">
            <a:extLst>
              <a:ext uri="{FF2B5EF4-FFF2-40B4-BE49-F238E27FC236}">
                <a16:creationId xmlns:a16="http://schemas.microsoft.com/office/drawing/2014/main" id="{A585D9DE-FB41-8494-2693-7ACF6E1E9825}"/>
              </a:ext>
            </a:extLst>
          </p:cNvPr>
          <p:cNvSpPr/>
          <p:nvPr/>
        </p:nvSpPr>
        <p:spPr>
          <a:xfrm>
            <a:off x="1178852" y="573871"/>
            <a:ext cx="15874708" cy="3046988"/>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MODULE 4: Sequential Narrative Alignment</a:t>
            </a:r>
          </a:p>
          <a:p>
            <a:endParaRPr lang="en-US" sz="32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module ensures that the AI-Powered Storyboard Creator generates visually coherent storyboard sequences by maintaining narrative continuity across multiple frames, a critical requirement for storytelling in movies, games, and advertisements. By aligning the generated images with the progression of the script, this module preserves the logical flow of actions, settings, and emotions, creating a seamless visual narrative. </a:t>
            </a:r>
          </a:p>
          <a:p>
            <a:endParaRPr lang="en-IN" sz="2800" b="1" dirty="0">
              <a:latin typeface="Times New Roman" panose="02020603050405020304" pitchFamily="18" charset="0"/>
              <a:cs typeface="Times New Roman" panose="02020603050405020304" pitchFamily="18" charset="0"/>
            </a:endParaRPr>
          </a:p>
        </p:txBody>
      </p:sp>
      <p:pic>
        <p:nvPicPr>
          <p:cNvPr id="6146" name="Picture 2" descr="1805.05622] Stories for Images-in-Sequence by using Visual and Narrative  Components This research was partially funded by Pendulibrium and the  Faculty of computer science and engineering, Ss. Cyril and Methodius  University in Skopje.">
            <a:extLst>
              <a:ext uri="{FF2B5EF4-FFF2-40B4-BE49-F238E27FC236}">
                <a16:creationId xmlns:a16="http://schemas.microsoft.com/office/drawing/2014/main" id="{A8FB76F2-652C-A0B9-BD1B-4DB34E888E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6759" y="3158532"/>
            <a:ext cx="8831987" cy="6244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173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533E2D-8FF4-99D4-91D2-D1E76CD76BD2}"/>
              </a:ext>
            </a:extLst>
          </p:cNvPr>
          <p:cNvSpPr>
            <a:spLocks noGrp="1"/>
          </p:cNvSpPr>
          <p:nvPr>
            <p:ph type="dt" sz="half" idx="10"/>
          </p:nvPr>
        </p:nvSpPr>
        <p:spPr/>
        <p:txBody>
          <a:bodyPr/>
          <a:lstStyle/>
          <a:p>
            <a:fld id="{AB5CEAA5-1CBE-441D-9A67-C72793B18EC8}" type="datetime4">
              <a:rPr lang="en-US" smtClean="0"/>
              <a:t>May 3, 2025</a:t>
            </a:fld>
            <a:endParaRPr lang="en-US"/>
          </a:p>
        </p:txBody>
      </p:sp>
      <p:sp>
        <p:nvSpPr>
          <p:cNvPr id="3" name="Footer Placeholder 2">
            <a:extLst>
              <a:ext uri="{FF2B5EF4-FFF2-40B4-BE49-F238E27FC236}">
                <a16:creationId xmlns:a16="http://schemas.microsoft.com/office/drawing/2014/main" id="{5235D42A-A37F-3BF0-FCEB-5162B314C9E3}"/>
              </a:ext>
            </a:extLst>
          </p:cNvPr>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a:extLst>
              <a:ext uri="{FF2B5EF4-FFF2-40B4-BE49-F238E27FC236}">
                <a16:creationId xmlns:a16="http://schemas.microsoft.com/office/drawing/2014/main" id="{14510537-C614-6085-1274-832B3B81E20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5" name="Rectangle 4">
            <a:extLst>
              <a:ext uri="{FF2B5EF4-FFF2-40B4-BE49-F238E27FC236}">
                <a16:creationId xmlns:a16="http://schemas.microsoft.com/office/drawing/2014/main" id="{F6D559F4-A8B9-364C-68F4-54C1CEB87AB2}"/>
              </a:ext>
            </a:extLst>
          </p:cNvPr>
          <p:cNvSpPr/>
          <p:nvPr/>
        </p:nvSpPr>
        <p:spPr>
          <a:xfrm>
            <a:off x="1178852" y="573871"/>
            <a:ext cx="15874708" cy="4893647"/>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MODULE 5:User Interface and Real Time Editing</a:t>
            </a:r>
          </a:p>
          <a:p>
            <a:endParaRPr lang="en-US" sz="32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module focuses on developing an intuitive and user-friendly interface for the AI-Powered Storyboard Creator, enabling creators to input scripts, visualize generated storyboards, and make real-time adjustments to the visual output. Designed to enhance the creative workflow for professionals in movies, games, and advertising, this module ensures seamless interaction with the AI system while providing tools for iterative refinement of storyboard frames. The process is broken down into the following steps:</a:t>
            </a:r>
          </a:p>
          <a:p>
            <a:r>
              <a:rPr lang="en-US" sz="2400" dirty="0">
                <a:latin typeface="Times New Roman" panose="02020603050405020304" pitchFamily="18" charset="0"/>
                <a:cs typeface="Times New Roman" panose="02020603050405020304" pitchFamily="18" charset="0"/>
              </a:rPr>
              <a:t>Step 1: Interface Design and Layout</a:t>
            </a:r>
          </a:p>
          <a:p>
            <a:r>
              <a:rPr lang="en-US" sz="2400" dirty="0">
                <a:latin typeface="Times New Roman" panose="02020603050405020304" pitchFamily="18" charset="0"/>
                <a:cs typeface="Times New Roman" panose="02020603050405020304" pitchFamily="18" charset="0"/>
              </a:rPr>
              <a:t>Step 2: Script Input and Visualization</a:t>
            </a:r>
          </a:p>
          <a:p>
            <a:r>
              <a:rPr lang="en-US" sz="2400" dirty="0">
                <a:latin typeface="Times New Roman" panose="02020603050405020304" pitchFamily="18" charset="0"/>
                <a:cs typeface="Times New Roman" panose="02020603050405020304" pitchFamily="18" charset="0"/>
              </a:rPr>
              <a:t>Step 3: Feedback Integration and Collaboration</a:t>
            </a:r>
          </a:p>
          <a:p>
            <a:endParaRPr lang="en-US" sz="2400"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p:txBody>
      </p:sp>
      <p:pic>
        <p:nvPicPr>
          <p:cNvPr id="5122" name="Picture 2" descr="React AI-Powered Image Generation Using OpenAI DALL-E API - Kinsta®">
            <a:extLst>
              <a:ext uri="{FF2B5EF4-FFF2-40B4-BE49-F238E27FC236}">
                <a16:creationId xmlns:a16="http://schemas.microsoft.com/office/drawing/2014/main" id="{18A40BAC-56C6-FB75-8865-38878D1BFD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4107" y="3306128"/>
            <a:ext cx="10362031" cy="5639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633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A668DB-182D-53D1-2505-8CE347B9DB96}"/>
              </a:ext>
            </a:extLst>
          </p:cNvPr>
          <p:cNvSpPr>
            <a:spLocks noGrp="1"/>
          </p:cNvSpPr>
          <p:nvPr>
            <p:ph type="dt" sz="half" idx="10"/>
          </p:nvPr>
        </p:nvSpPr>
        <p:spPr/>
        <p:txBody>
          <a:bodyPr/>
          <a:lstStyle/>
          <a:p>
            <a:fld id="{DD3F57F0-F8B8-4141-9EF7-A4F3E48CC234}" type="datetime4">
              <a:rPr lang="en-US" smtClean="0"/>
              <a:t>May 3, 2025</a:t>
            </a:fld>
            <a:endParaRPr lang="en-US"/>
          </a:p>
        </p:txBody>
      </p:sp>
      <p:sp>
        <p:nvSpPr>
          <p:cNvPr id="3" name="Footer Placeholder 2">
            <a:extLst>
              <a:ext uri="{FF2B5EF4-FFF2-40B4-BE49-F238E27FC236}">
                <a16:creationId xmlns:a16="http://schemas.microsoft.com/office/drawing/2014/main" id="{97720ADA-EE06-D007-DD5B-8A35B723825C}"/>
              </a:ext>
            </a:extLst>
          </p:cNvPr>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a:extLst>
              <a:ext uri="{FF2B5EF4-FFF2-40B4-BE49-F238E27FC236}">
                <a16:creationId xmlns:a16="http://schemas.microsoft.com/office/drawing/2014/main" id="{FF2ED99E-D1EC-B04E-EB79-9EADF932BD2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5" name="Rectangle 4">
            <a:extLst>
              <a:ext uri="{FF2B5EF4-FFF2-40B4-BE49-F238E27FC236}">
                <a16:creationId xmlns:a16="http://schemas.microsoft.com/office/drawing/2014/main" id="{044D71EE-BDE0-0A9C-402E-270B4BDB51FE}"/>
              </a:ext>
            </a:extLst>
          </p:cNvPr>
          <p:cNvSpPr/>
          <p:nvPr/>
        </p:nvSpPr>
        <p:spPr>
          <a:xfrm>
            <a:off x="1178852" y="573871"/>
            <a:ext cx="15874708" cy="8463855"/>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MODULE 6:Integration and Export </a:t>
            </a:r>
            <a:r>
              <a:rPr lang="en-US" sz="3600" b="1" dirty="0" err="1">
                <a:latin typeface="Times New Roman" panose="02020603050405020304" pitchFamily="18" charset="0"/>
                <a:cs typeface="Times New Roman" panose="02020603050405020304" pitchFamily="18" charset="0"/>
              </a:rPr>
              <a:t>Combatibility</a:t>
            </a:r>
            <a:r>
              <a:rPr lang="en-US" sz="3200" b="1" dirty="0">
                <a:latin typeface="Times New Roman" panose="02020603050405020304" pitchFamily="18" charset="0"/>
                <a:cs typeface="Times New Roman" panose="02020603050405020304" pitchFamily="18" charset="0"/>
              </a:rPr>
              <a:t> </a:t>
            </a:r>
          </a:p>
          <a:p>
            <a:endParaRPr lang="en-US" sz="32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module ensures that the AI-Powered Storyboard Creator seamlessly integrates with existing industry tools and workflows, allowing creators in movies, games, and advertising to incorporate generated storyboards into their production pipelines. By providing export compatibility with standard formats and enabling integration with popular software, this module enhances the tool’s practicality and accessibility for professional use. The process is broken down into the following steps:</a:t>
            </a:r>
          </a:p>
          <a:p>
            <a:r>
              <a:rPr lang="en-US" sz="2400" dirty="0">
                <a:latin typeface="Times New Roman" panose="02020603050405020304" pitchFamily="18" charset="0"/>
                <a:cs typeface="Times New Roman" panose="02020603050405020304" pitchFamily="18" charset="0"/>
              </a:rPr>
              <a:t>Step 1: Format Standardization and Export Options</a:t>
            </a:r>
          </a:p>
          <a:p>
            <a:r>
              <a:rPr lang="en-US" sz="2400" dirty="0">
                <a:latin typeface="Times New Roman" panose="02020603050405020304" pitchFamily="18" charset="0"/>
                <a:cs typeface="Times New Roman" panose="02020603050405020304" pitchFamily="18" charset="0"/>
              </a:rPr>
              <a:t>Step 2: Integration with Industry Software</a:t>
            </a:r>
          </a:p>
          <a:p>
            <a:r>
              <a:rPr lang="en-US" sz="2400" dirty="0">
                <a:latin typeface="Times New Roman" panose="02020603050405020304" pitchFamily="18" charset="0"/>
                <a:cs typeface="Times New Roman" panose="02020603050405020304" pitchFamily="18" charset="0"/>
              </a:rPr>
              <a:t>Step 3: Cloud-Based Collaboration and Sharing</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t>Step 1: </a:t>
            </a:r>
            <a:r>
              <a:rPr lang="en-US" sz="2400" dirty="0"/>
              <a:t>The first step focuses on enabling the export of generated storyboards in industry-standard formats to ensure compatibility with existing workflows. The system supports exporting storyboards as individual image files (e.g., PNG, JPEG) for each frame</a:t>
            </a: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Step 2: </a:t>
            </a:r>
            <a:r>
              <a:rPr lang="en-US" sz="2400" dirty="0">
                <a:latin typeface="Times New Roman" panose="02020603050405020304" pitchFamily="18" charset="0"/>
                <a:cs typeface="Times New Roman" panose="02020603050405020304" pitchFamily="18" charset="0"/>
              </a:rPr>
              <a:t>In this step, the system is designed to integrate with popular pre-production and creative software used in the movie, game, and advertising industries. This includes tools like Adobe Story, Final Draft, </a:t>
            </a:r>
            <a:r>
              <a:rPr lang="en-US" sz="2400" dirty="0" err="1">
                <a:latin typeface="Times New Roman" panose="02020603050405020304" pitchFamily="18" charset="0"/>
                <a:cs typeface="Times New Roman" panose="02020603050405020304" pitchFamily="18" charset="0"/>
              </a:rPr>
              <a:t>Celtx</a:t>
            </a:r>
            <a:r>
              <a:rPr lang="en-US" sz="2400" dirty="0">
                <a:latin typeface="Times New Roman" panose="02020603050405020304" pitchFamily="18" charset="0"/>
                <a:cs typeface="Times New Roman" panose="02020603050405020304" pitchFamily="18" charset="0"/>
              </a:rPr>
              <a:t>, and storyboard-specific software such as Storyboard Pro. The integration is achieved through API development, allowing the AI-Powered Storyboard Creator to export data directly into these platforms.</a:t>
            </a:r>
          </a:p>
          <a:p>
            <a:pPr marL="342900" indent="-3429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1" dirty="0"/>
              <a:t>Step 3: </a:t>
            </a:r>
            <a:r>
              <a:rPr lang="en-US" sz="2400" dirty="0"/>
              <a:t>To facilitate teamwork, this step incorporates cloud-based features for storing, sharing, and collaborating on storyboards. The system integrates with cloud platforms like Google Drive, Dropbox, and Microsoft OneDrive, allowing users to save their projects online and share them with team members.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7038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B46AA7-D11C-4AD6-B271-ACCFE6685D14}"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6" name="Rectangle 5"/>
          <p:cNvSpPr/>
          <p:nvPr/>
        </p:nvSpPr>
        <p:spPr>
          <a:xfrm>
            <a:off x="1323192" y="750720"/>
            <a:ext cx="14828519" cy="3046988"/>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Step 4: Working Algorithm (Transformers)</a:t>
            </a:r>
          </a:p>
          <a:p>
            <a:endParaRPr lang="en-US" sz="32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this project, Transformers like Stable Diffusion models are used for denoising diffusion probabilistic models to generate high-quality, photorealistic images from text. The algorithm starts with random noise and iteratively refines it into a coherent image by minimizing the difference between the noisy image and the target distribution, conditioned on the text embedding. </a:t>
            </a:r>
          </a:p>
          <a:p>
            <a:endParaRPr lang="en-US" sz="32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5C025CEF-31F0-0D5C-5810-7D56D866E93C}"/>
              </a:ext>
            </a:extLst>
          </p:cNvPr>
          <p:cNvPicPr>
            <a:picLocks noChangeAspect="1"/>
          </p:cNvPicPr>
          <p:nvPr/>
        </p:nvPicPr>
        <p:blipFill>
          <a:blip r:embed="rId2"/>
          <a:stretch>
            <a:fillRect/>
          </a:stretch>
        </p:blipFill>
        <p:spPr>
          <a:xfrm>
            <a:off x="3848100" y="3485127"/>
            <a:ext cx="10591800" cy="561388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42D52C-68C2-41FD-BC65-9F45D5B2799F}"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5" name="Rectangle 4"/>
          <p:cNvSpPr/>
          <p:nvPr/>
        </p:nvSpPr>
        <p:spPr>
          <a:xfrm>
            <a:off x="581890" y="282924"/>
            <a:ext cx="17020309" cy="646331"/>
          </a:xfrm>
          <a:prstGeom prst="rect">
            <a:avLst/>
          </a:prstGeom>
        </p:spPr>
        <p:txBody>
          <a:bodyPr wrap="square">
            <a:spAutoFit/>
          </a:bodyPr>
          <a:lstStyle/>
          <a:p>
            <a:pPr algn="ctr"/>
            <a:r>
              <a:rPr lang="en-US" sz="3600" b="1" dirty="0">
                <a:latin typeface="Times New Roman" panose="02020603050405020304" pitchFamily="18" charset="0"/>
                <a:cs typeface="Times New Roman" panose="02020603050405020304" pitchFamily="18" charset="0"/>
              </a:rPr>
              <a:t>IMPLEMENTATION</a:t>
            </a:r>
            <a:endParaRPr lang="en-IN" sz="3600" dirty="0"/>
          </a:p>
        </p:txBody>
      </p:sp>
      <p:sp>
        <p:nvSpPr>
          <p:cNvPr id="6" name="Rectangle 5"/>
          <p:cNvSpPr/>
          <p:nvPr/>
        </p:nvSpPr>
        <p:spPr>
          <a:xfrm>
            <a:off x="1039091" y="1703338"/>
            <a:ext cx="9144000" cy="4031873"/>
          </a:xfrm>
          <a:prstGeom prst="rect">
            <a:avLst/>
          </a:prstGeom>
        </p:spPr>
        <p:txBody>
          <a:bodyPr>
            <a:spAutoFit/>
          </a:bodyPr>
          <a:lstStyle/>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Architecture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Data –Flow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Use Case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Class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Activity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Sequence Diagram</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Collaboration Diagram(If applicable)</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E-R Diagram</a:t>
            </a:r>
          </a:p>
        </p:txBody>
      </p:sp>
      <p:sp>
        <p:nvSpPr>
          <p:cNvPr id="7" name="Rectangle 6"/>
          <p:cNvSpPr/>
          <p:nvPr/>
        </p:nvSpPr>
        <p:spPr>
          <a:xfrm>
            <a:off x="1528906" y="7743598"/>
            <a:ext cx="5795241" cy="369332"/>
          </a:xfrm>
          <a:prstGeom prst="rect">
            <a:avLst/>
          </a:prstGeom>
        </p:spPr>
        <p:txBody>
          <a:bodyPr wrap="none">
            <a:spAutoFit/>
          </a:bodyPr>
          <a:lstStyle/>
          <a:p>
            <a:r>
              <a:rPr lang="en-IN" b="1" dirty="0">
                <a:latin typeface="Times New Roman" panose="02020603050405020304" pitchFamily="18" charset="0"/>
                <a:cs typeface="Times New Roman" panose="02020603050405020304" pitchFamily="18" charset="0"/>
              </a:rPr>
              <a:t>It’s a sample only  and may vary according to the project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FD21E4-156B-44A9-B3B8-14A82941CF2B}"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5" name="Rectangle 4"/>
          <p:cNvSpPr/>
          <p:nvPr/>
        </p:nvSpPr>
        <p:spPr>
          <a:xfrm>
            <a:off x="1645921" y="303414"/>
            <a:ext cx="16521545"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Architecture Diagram</a:t>
            </a:r>
          </a:p>
        </p:txBody>
      </p:sp>
      <p:sp>
        <p:nvSpPr>
          <p:cNvPr id="6" name="TextBox 5"/>
          <p:cNvSpPr txBox="1"/>
          <p:nvPr/>
        </p:nvSpPr>
        <p:spPr>
          <a:xfrm>
            <a:off x="685800" y="1375694"/>
            <a:ext cx="16916400" cy="1938992"/>
          </a:xfrm>
          <a:prstGeom prst="rect">
            <a:avLst/>
          </a:prstGeom>
          <a:noFill/>
        </p:spPr>
        <p:txBody>
          <a:bodyPr wrap="square" rtlCol="0">
            <a:spAutoFit/>
          </a:bodyPr>
          <a:lstStyle/>
          <a:p>
            <a:pPr>
              <a:buNone/>
            </a:pPr>
            <a:r>
              <a:rPr lang="en-US" sz="2400" dirty="0">
                <a:latin typeface="Times New Roman" panose="02020603050405020304" pitchFamily="18" charset="0"/>
                <a:cs typeface="Times New Roman" panose="02020603050405020304" pitchFamily="18" charset="0"/>
              </a:rPr>
              <a:t>This diagram represents the architecture of an </a:t>
            </a:r>
            <a:r>
              <a:rPr lang="en-US" sz="2400" b="1" dirty="0">
                <a:latin typeface="Times New Roman" panose="02020603050405020304" pitchFamily="18" charset="0"/>
                <a:cs typeface="Times New Roman" panose="02020603050405020304" pitchFamily="18" charset="0"/>
              </a:rPr>
              <a:t>AI-powered Storyboard Generator</a:t>
            </a:r>
            <a:r>
              <a:rPr lang="en-US" sz="2400" dirty="0">
                <a:latin typeface="Times New Roman" panose="02020603050405020304" pitchFamily="18" charset="0"/>
                <a:cs typeface="Times New Roman" panose="02020603050405020304" pitchFamily="18" charset="0"/>
              </a:rPr>
              <a:t>. It consists of four main components: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 Interface (UI)</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AI Engine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External APIs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 Storage</a:t>
            </a:r>
          </a:p>
        </p:txBody>
      </p:sp>
      <p:pic>
        <p:nvPicPr>
          <p:cNvPr id="9" name="Picture 8">
            <a:extLst>
              <a:ext uri="{FF2B5EF4-FFF2-40B4-BE49-F238E27FC236}">
                <a16:creationId xmlns:a16="http://schemas.microsoft.com/office/drawing/2014/main" id="{74B910EE-CA0F-76BB-8EF2-EB0BE8C94180}"/>
              </a:ext>
            </a:extLst>
          </p:cNvPr>
          <p:cNvPicPr>
            <a:picLocks noChangeAspect="1"/>
          </p:cNvPicPr>
          <p:nvPr/>
        </p:nvPicPr>
        <p:blipFill>
          <a:blip r:embed="rId2"/>
          <a:stretch>
            <a:fillRect/>
          </a:stretch>
        </p:blipFill>
        <p:spPr>
          <a:xfrm>
            <a:off x="2375521" y="3329926"/>
            <a:ext cx="13165277" cy="608882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AEF757-2D09-4D67-9042-63412CF5561F}"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5" name="Rectangle 4"/>
          <p:cNvSpPr/>
          <p:nvPr/>
        </p:nvSpPr>
        <p:spPr>
          <a:xfrm>
            <a:off x="774378" y="594652"/>
            <a:ext cx="17014857" cy="646331"/>
          </a:xfrm>
          <a:prstGeom prst="rect">
            <a:avLst/>
          </a:prstGeom>
        </p:spPr>
        <p:txBody>
          <a:bodyPr wrap="square">
            <a:spAutoFit/>
          </a:bodyPr>
          <a:lstStyle/>
          <a:p>
            <a:r>
              <a:rPr lang="en-US" sz="3600" b="1" dirty="0">
                <a:latin typeface="Times New Roman" panose="02020603050405020304" pitchFamily="18" charset="0"/>
                <a:cs typeface="Times New Roman" panose="02020603050405020304" pitchFamily="18" charset="0"/>
              </a:rPr>
              <a:t>                                                  Data –Flow Diagram</a:t>
            </a:r>
          </a:p>
        </p:txBody>
      </p:sp>
      <p:sp>
        <p:nvSpPr>
          <p:cNvPr id="8" name="TextBox 7"/>
          <p:cNvSpPr txBox="1"/>
          <p:nvPr/>
        </p:nvSpPr>
        <p:spPr>
          <a:xfrm>
            <a:off x="1048699" y="2127328"/>
            <a:ext cx="11973865" cy="5478423"/>
          </a:xfrm>
          <a:prstGeom prst="rect">
            <a:avLst/>
          </a:prstGeom>
          <a:noFill/>
        </p:spPr>
        <p:txBody>
          <a:bodyPr wrap="square" rtlCol="0">
            <a:spAutoFit/>
          </a:bodyPr>
          <a:lstStyle/>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user provides a text input, which could be a script, a description, or prompts for generating a storyboard.</a:t>
            </a: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system processes the input text using </a:t>
            </a:r>
            <a:r>
              <a:rPr lang="en-US" sz="2500" b="1" dirty="0">
                <a:latin typeface="Times New Roman" panose="02020603050405020304" pitchFamily="18" charset="0"/>
                <a:cs typeface="Times New Roman" panose="02020603050405020304" pitchFamily="18" charset="0"/>
              </a:rPr>
              <a:t>Natural Language Processing (NLP) </a:t>
            </a:r>
            <a:r>
              <a:rPr lang="en-US" sz="2500" dirty="0">
                <a:latin typeface="Times New Roman" panose="02020603050405020304" pitchFamily="18" charset="0"/>
                <a:cs typeface="Times New Roman" panose="02020603050405020304" pitchFamily="18" charset="0"/>
              </a:rPr>
              <a:t>that</a:t>
            </a:r>
            <a:r>
              <a:rPr lang="en-US" sz="2500" b="1" dirty="0">
                <a:latin typeface="Times New Roman" panose="02020603050405020304" pitchFamily="18" charset="0"/>
                <a:cs typeface="Times New Roman" panose="02020603050405020304" pitchFamily="18" charset="0"/>
              </a:rPr>
              <a:t> </a:t>
            </a:r>
            <a:r>
              <a:rPr lang="en-US" sz="2500" dirty="0">
                <a:latin typeface="Times New Roman" panose="02020603050405020304" pitchFamily="18" charset="0"/>
                <a:cs typeface="Times New Roman" panose="02020603050405020304" pitchFamily="18" charset="0"/>
              </a:rPr>
              <a:t>identifies key elements like characters, scenes, and actions.</a:t>
            </a: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Based on the analyzed text, the system generates images using models like stable diffusion of DALL-E to create relevant visuals.</a:t>
            </a: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generated images are arranged in a structured format to form a storyboard. This step ensures the correct sequence of scenes based on the story flow.</a:t>
            </a:r>
          </a:p>
          <a:p>
            <a:pPr marL="342900" indent="-342900">
              <a:buFont typeface="Arial" panose="020B0604020202020204" pitchFamily="34" charset="0"/>
              <a:buChar char="•"/>
            </a:pPr>
            <a:endParaRPr lang="en-US" sz="25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final storyboard is </a:t>
            </a:r>
            <a:r>
              <a:rPr lang="en-US" sz="2500" b="1" dirty="0">
                <a:latin typeface="Times New Roman" panose="02020603050405020304" pitchFamily="18" charset="0"/>
                <a:cs typeface="Times New Roman" panose="02020603050405020304" pitchFamily="18" charset="0"/>
              </a:rPr>
              <a:t>saved or exported</a:t>
            </a:r>
            <a:r>
              <a:rPr lang="en-US" sz="2500" dirty="0">
                <a:latin typeface="Times New Roman" panose="02020603050405020304" pitchFamily="18" charset="0"/>
                <a:cs typeface="Times New Roman" panose="02020603050405020304" pitchFamily="18" charset="0"/>
              </a:rPr>
              <a:t> in a preferred format (PDF, PNG, etc.). It can be stored in a </a:t>
            </a:r>
            <a:r>
              <a:rPr lang="en-US" sz="2500" b="1" dirty="0">
                <a:latin typeface="Times New Roman" panose="02020603050405020304" pitchFamily="18" charset="0"/>
                <a:cs typeface="Times New Roman" panose="02020603050405020304" pitchFamily="18" charset="0"/>
              </a:rPr>
              <a:t>Storyboard Database or Asset Storage</a:t>
            </a:r>
            <a:r>
              <a:rPr lang="en-US" sz="2500" dirty="0">
                <a:latin typeface="Times New Roman" panose="02020603050405020304" pitchFamily="18" charset="0"/>
                <a:cs typeface="Times New Roman" panose="02020603050405020304" pitchFamily="18" charset="0"/>
              </a:rPr>
              <a:t> for later use.</a:t>
            </a:r>
            <a:endParaRPr lang="en-IN" sz="25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A1D0B30-C139-6BBE-6464-B1771D71FAE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076044" y="853233"/>
            <a:ext cx="3040417" cy="8290268"/>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307494-F004-4083-8476-31CA1E43D739}"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5" name="Rectangle 4"/>
          <p:cNvSpPr/>
          <p:nvPr/>
        </p:nvSpPr>
        <p:spPr>
          <a:xfrm>
            <a:off x="6690707" y="375982"/>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Use Case Diagram</a:t>
            </a:r>
          </a:p>
        </p:txBody>
      </p:sp>
      <p:pic>
        <p:nvPicPr>
          <p:cNvPr id="6" name="Picture 5"/>
          <p:cNvPicPr>
            <a:picLocks noChangeAspect="1"/>
          </p:cNvPicPr>
          <p:nvPr/>
        </p:nvPicPr>
        <p:blipFill>
          <a:blip r:embed="rId2"/>
          <a:srcRect/>
          <a:stretch/>
        </p:blipFill>
        <p:spPr>
          <a:xfrm>
            <a:off x="5818735" y="1357905"/>
            <a:ext cx="5819782" cy="757118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9E895C-BF6E-4498-9DFC-948141166861}"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5" name="Rectangle 4"/>
          <p:cNvSpPr/>
          <p:nvPr/>
        </p:nvSpPr>
        <p:spPr>
          <a:xfrm>
            <a:off x="7674726" y="561684"/>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Class Diagram</a:t>
            </a:r>
          </a:p>
        </p:txBody>
      </p:sp>
      <p:pic>
        <p:nvPicPr>
          <p:cNvPr id="6" name="Content Placeholder 6"/>
          <p:cNvPicPr>
            <a:picLocks noChangeAspect="1"/>
          </p:cNvPicPr>
          <p:nvPr/>
        </p:nvPicPr>
        <p:blipFill>
          <a:blip r:embed="rId2"/>
          <a:srcRect/>
          <a:stretch/>
        </p:blipFill>
        <p:spPr>
          <a:xfrm>
            <a:off x="5573818" y="1723868"/>
            <a:ext cx="7140364" cy="646076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DA7235-81C3-4C26-B92F-4697A43E2892}"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5" name="Rectangle 4"/>
          <p:cNvSpPr/>
          <p:nvPr/>
        </p:nvSpPr>
        <p:spPr>
          <a:xfrm>
            <a:off x="7564582" y="310882"/>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Activity Diagram</a:t>
            </a:r>
          </a:p>
        </p:txBody>
      </p:sp>
      <p:pic>
        <p:nvPicPr>
          <p:cNvPr id="6" name="Picture 5"/>
          <p:cNvPicPr>
            <a:picLocks noChangeAspect="1"/>
          </p:cNvPicPr>
          <p:nvPr/>
        </p:nvPicPr>
        <p:blipFill>
          <a:blip r:embed="rId2"/>
          <a:srcRect/>
          <a:stretch/>
        </p:blipFill>
        <p:spPr>
          <a:xfrm>
            <a:off x="6694860" y="1158774"/>
            <a:ext cx="5162359" cy="796945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CA37BA-D70D-4B6A-B226-282CE0FB9E41}"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5" name="Rectangle 4"/>
          <p:cNvSpPr/>
          <p:nvPr/>
        </p:nvSpPr>
        <p:spPr>
          <a:xfrm>
            <a:off x="7197931" y="487097"/>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Sequence Diagram</a:t>
            </a:r>
          </a:p>
        </p:txBody>
      </p:sp>
      <p:pic>
        <p:nvPicPr>
          <p:cNvPr id="6" name="Content Placeholder 6"/>
          <p:cNvPicPr>
            <a:picLocks noChangeAspect="1"/>
          </p:cNvPicPr>
          <p:nvPr/>
        </p:nvPicPr>
        <p:blipFill>
          <a:blip r:embed="rId2"/>
          <a:srcRect/>
          <a:stretch/>
        </p:blipFill>
        <p:spPr>
          <a:xfrm>
            <a:off x="4935250" y="1631971"/>
            <a:ext cx="8417499" cy="728633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AB3207-7F90-40C6-A4E9-7495FDB79822}"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5" name="Rectangle 4"/>
          <p:cNvSpPr/>
          <p:nvPr/>
        </p:nvSpPr>
        <p:spPr>
          <a:xfrm>
            <a:off x="7418780" y="458126"/>
            <a:ext cx="2839239" cy="646331"/>
          </a:xfrm>
          <a:prstGeom prst="rect">
            <a:avLst/>
          </a:prstGeom>
        </p:spPr>
        <p:txBody>
          <a:bodyPr wrap="none">
            <a:spAutoFit/>
          </a:bodyPr>
          <a:lstStyle/>
          <a:p>
            <a:r>
              <a:rPr lang="en-US" sz="3600" b="1" dirty="0">
                <a:latin typeface="Times New Roman" panose="02020603050405020304" pitchFamily="18" charset="0"/>
                <a:cs typeface="Times New Roman" panose="02020603050405020304" pitchFamily="18" charset="0"/>
              </a:rPr>
              <a:t>E-R Diagram</a:t>
            </a:r>
          </a:p>
        </p:txBody>
      </p:sp>
      <p:pic>
        <p:nvPicPr>
          <p:cNvPr id="6" name="Content Placeholder 6"/>
          <p:cNvPicPr>
            <a:picLocks noChangeAspect="1"/>
          </p:cNvPicPr>
          <p:nvPr/>
        </p:nvPicPr>
        <p:blipFill>
          <a:blip r:embed="rId2"/>
          <a:srcRect/>
          <a:stretch/>
        </p:blipFill>
        <p:spPr>
          <a:xfrm>
            <a:off x="5140068" y="1611592"/>
            <a:ext cx="7396665" cy="706381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B375CF-17D6-43EE-848B-1AA2EFFE5F08}"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
        <p:nvSpPr>
          <p:cNvPr id="5" name="Rectangle 4"/>
          <p:cNvSpPr/>
          <p:nvPr/>
        </p:nvSpPr>
        <p:spPr>
          <a:xfrm>
            <a:off x="4922755" y="391338"/>
            <a:ext cx="9144000" cy="646331"/>
          </a:xfrm>
          <a:prstGeom prst="rect">
            <a:avLst/>
          </a:prstGeom>
        </p:spPr>
        <p:txBody>
          <a:bodyPr>
            <a:spAutoFit/>
          </a:bodyPr>
          <a:lstStyle/>
          <a:p>
            <a:r>
              <a:rPr lang="en-US" sz="3600" b="1" dirty="0">
                <a:latin typeface="Times New Roman" panose="02020603050405020304" pitchFamily="18" charset="0"/>
                <a:cs typeface="Times New Roman" panose="02020603050405020304" pitchFamily="18" charset="0"/>
              </a:rPr>
              <a:t>Collaboration Diagram(If applicable)</a:t>
            </a:r>
          </a:p>
        </p:txBody>
      </p:sp>
      <p:pic>
        <p:nvPicPr>
          <p:cNvPr id="6" name="Content Placeholder 6"/>
          <p:cNvPicPr>
            <a:picLocks noChangeAspect="1"/>
          </p:cNvPicPr>
          <p:nvPr/>
        </p:nvPicPr>
        <p:blipFill>
          <a:blip r:embed="rId2"/>
          <a:srcRect/>
          <a:stretch/>
        </p:blipFill>
        <p:spPr>
          <a:xfrm>
            <a:off x="4922755" y="1480128"/>
            <a:ext cx="8442490" cy="776709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E7AFC4-2EE1-44E1-A11D-5A0309AC54A6}"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
        <p:nvSpPr>
          <p:cNvPr id="5" name="Rectangle 4"/>
          <p:cNvSpPr/>
          <p:nvPr/>
        </p:nvSpPr>
        <p:spPr>
          <a:xfrm>
            <a:off x="602671" y="1807109"/>
            <a:ext cx="17394383" cy="1938992"/>
          </a:xfrm>
          <a:prstGeom prst="rect">
            <a:avLst/>
          </a:prstGeom>
        </p:spPr>
        <p:txBody>
          <a:bodyPr wrap="square">
            <a:spAutoFit/>
          </a:bodyPr>
          <a:lstStyle/>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UNIT TESTING</a:t>
            </a:r>
            <a:endParaRPr lang="en-IN" sz="2400" i="1"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INTEGRATION TESTING</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FUNCTIONAL TESTING</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WHITE BOX TESTING</a:t>
            </a:r>
          </a:p>
          <a:p>
            <a:pPr lvl="1">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BLACK BOX TESTING</a:t>
            </a:r>
            <a:endParaRPr lang="en-IN" sz="2400" dirty="0">
              <a:latin typeface="Times New Roman" panose="02020603050405020304" pitchFamily="18" charset="0"/>
              <a:cs typeface="Times New Roman" panose="02020603050405020304" pitchFamily="18" charset="0"/>
            </a:endParaRPr>
          </a:p>
        </p:txBody>
      </p:sp>
      <p:sp>
        <p:nvSpPr>
          <p:cNvPr id="6" name="Rectangle 5"/>
          <p:cNvSpPr/>
          <p:nvPr/>
        </p:nvSpPr>
        <p:spPr>
          <a:xfrm>
            <a:off x="6522870" y="386834"/>
            <a:ext cx="2236510" cy="646331"/>
          </a:xfrm>
          <a:prstGeom prst="rect">
            <a:avLst/>
          </a:prstGeom>
        </p:spPr>
        <p:txBody>
          <a:bodyPr wrap="none">
            <a:spAutoFit/>
          </a:bodyPr>
          <a:lstStyle/>
          <a:p>
            <a:r>
              <a:rPr lang="en-IN" sz="3600" b="1" dirty="0">
                <a:latin typeface="Times New Roman" panose="02020603050405020304" pitchFamily="18" charset="0"/>
                <a:cs typeface="Times New Roman" panose="02020603050405020304" pitchFamily="18" charset="0"/>
              </a:rPr>
              <a:t>TESTING</a:t>
            </a:r>
            <a:endParaRPr lang="en-IN" sz="3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439502-BA4A-428D-B69C-0F0C24F0041E}"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
        <p:nvSpPr>
          <p:cNvPr id="5" name="Rectangle 4"/>
          <p:cNvSpPr/>
          <p:nvPr/>
        </p:nvSpPr>
        <p:spPr>
          <a:xfrm>
            <a:off x="6949693" y="234387"/>
            <a:ext cx="3951082" cy="646331"/>
          </a:xfrm>
          <a:prstGeom prst="rect">
            <a:avLst/>
          </a:prstGeom>
        </p:spPr>
        <p:txBody>
          <a:bodyPr wrap="none">
            <a:spAutoFit/>
          </a:bodyPr>
          <a:lstStyle/>
          <a:p>
            <a:pPr lvl="1"/>
            <a:r>
              <a:rPr lang="en-US" sz="3600" b="1" dirty="0">
                <a:latin typeface="Times New Roman" panose="02020603050405020304" pitchFamily="18" charset="0"/>
                <a:cs typeface="Times New Roman" panose="02020603050405020304" pitchFamily="18" charset="0"/>
              </a:rPr>
              <a:t>UNIT TESTING</a:t>
            </a:r>
            <a:endParaRPr lang="en-IN" sz="3600" b="1" i="1" dirty="0">
              <a:latin typeface="Times New Roman" panose="02020603050405020304" pitchFamily="18" charset="0"/>
              <a:cs typeface="Times New Roman" panose="02020603050405020304" pitchFamily="18" charset="0"/>
            </a:endParaRPr>
          </a:p>
        </p:txBody>
      </p:sp>
      <p:sp>
        <p:nvSpPr>
          <p:cNvPr id="6" name="Rectangle 5"/>
          <p:cNvSpPr/>
          <p:nvPr/>
        </p:nvSpPr>
        <p:spPr>
          <a:xfrm>
            <a:off x="498763" y="934977"/>
            <a:ext cx="17560637" cy="461665"/>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Unit testing in this context ensures that each module of the storyboard creator works as expected in isolation. Key components to test include :</a:t>
            </a:r>
          </a:p>
        </p:txBody>
      </p:sp>
      <p:sp>
        <p:nvSpPr>
          <p:cNvPr id="7" name="Rectangle 6"/>
          <p:cNvSpPr/>
          <p:nvPr/>
        </p:nvSpPr>
        <p:spPr>
          <a:xfrm>
            <a:off x="5872603" y="5010993"/>
            <a:ext cx="6105261" cy="646331"/>
          </a:xfrm>
          <a:prstGeom prst="rect">
            <a:avLst/>
          </a:prstGeom>
        </p:spPr>
        <p:txBody>
          <a:bodyPr wrap="none">
            <a:spAutoFit/>
          </a:bodyPr>
          <a:lstStyle/>
          <a:p>
            <a:pPr lvl="1"/>
            <a:r>
              <a:rPr lang="en-US" sz="3600" b="1" dirty="0">
                <a:latin typeface="Times New Roman" panose="02020603050405020304" pitchFamily="18" charset="0"/>
                <a:cs typeface="Times New Roman" panose="02020603050405020304" pitchFamily="18" charset="0"/>
              </a:rPr>
              <a:t>INTEGRATION TESTING</a:t>
            </a:r>
          </a:p>
        </p:txBody>
      </p:sp>
      <p:sp>
        <p:nvSpPr>
          <p:cNvPr id="8" name="Rectangle 7"/>
          <p:cNvSpPr/>
          <p:nvPr/>
        </p:nvSpPr>
        <p:spPr>
          <a:xfrm>
            <a:off x="581890" y="5786032"/>
            <a:ext cx="17394382" cy="830997"/>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Integration testing verifies that the individual components of the storyboard creator (e.g., </a:t>
            </a:r>
            <a:r>
              <a:rPr lang="en-US" sz="2400" dirty="0" err="1">
                <a:latin typeface="Times New Roman" panose="02020603050405020304" pitchFamily="18" charset="0"/>
                <a:cs typeface="Times New Roman" panose="02020603050405020304" pitchFamily="18" charset="0"/>
              </a:rPr>
              <a:t>TextParser</a:t>
            </a:r>
            <a:r>
              <a:rPr lang="en-US" sz="2400" dirty="0">
                <a:latin typeface="Times New Roman" panose="02020603050405020304" pitchFamily="18" charset="0"/>
                <a:cs typeface="Times New Roman" panose="02020603050405020304" pitchFamily="18" charset="0"/>
              </a:rPr>
              <a:t> and </a:t>
            </a:r>
            <a:r>
              <a:rPr lang="en-US" sz="2400" dirty="0" err="1">
                <a:latin typeface="Times New Roman" panose="02020603050405020304" pitchFamily="18" charset="0"/>
                <a:cs typeface="Times New Roman" panose="02020603050405020304" pitchFamily="18" charset="0"/>
              </a:rPr>
              <a:t>ImageGenerator</a:t>
            </a:r>
            <a:r>
              <a:rPr lang="en-US" sz="2400" dirty="0">
                <a:latin typeface="Times New Roman" panose="02020603050405020304" pitchFamily="18" charset="0"/>
                <a:cs typeface="Times New Roman" panose="02020603050405020304" pitchFamily="18" charset="0"/>
              </a:rPr>
              <a:t>) work together seamlessly. It focuses on the interactions between modules rather than their isolated behavior.</a:t>
            </a:r>
          </a:p>
        </p:txBody>
      </p:sp>
      <p:pic>
        <p:nvPicPr>
          <p:cNvPr id="12" name="Picture 11">
            <a:extLst>
              <a:ext uri="{FF2B5EF4-FFF2-40B4-BE49-F238E27FC236}">
                <a16:creationId xmlns:a16="http://schemas.microsoft.com/office/drawing/2014/main" id="{66653050-C6C9-21C2-F5C5-D98DFA011F66}"/>
              </a:ext>
            </a:extLst>
          </p:cNvPr>
          <p:cNvPicPr>
            <a:picLocks noChangeAspect="1"/>
          </p:cNvPicPr>
          <p:nvPr/>
        </p:nvPicPr>
        <p:blipFill>
          <a:blip r:embed="rId2"/>
          <a:stretch>
            <a:fillRect/>
          </a:stretch>
        </p:blipFill>
        <p:spPr>
          <a:xfrm>
            <a:off x="6125456" y="1490095"/>
            <a:ext cx="5852408" cy="3294269"/>
          </a:xfrm>
          <a:prstGeom prst="rect">
            <a:avLst/>
          </a:prstGeom>
        </p:spPr>
      </p:pic>
      <p:pic>
        <p:nvPicPr>
          <p:cNvPr id="14" name="Picture 13">
            <a:extLst>
              <a:ext uri="{FF2B5EF4-FFF2-40B4-BE49-F238E27FC236}">
                <a16:creationId xmlns:a16="http://schemas.microsoft.com/office/drawing/2014/main" id="{8F6BFABB-AB5B-A114-F6E2-E817E10859FE}"/>
              </a:ext>
            </a:extLst>
          </p:cNvPr>
          <p:cNvPicPr>
            <a:picLocks noChangeAspect="1"/>
          </p:cNvPicPr>
          <p:nvPr/>
        </p:nvPicPr>
        <p:blipFill>
          <a:blip r:embed="rId3"/>
          <a:stretch>
            <a:fillRect/>
          </a:stretch>
        </p:blipFill>
        <p:spPr>
          <a:xfrm>
            <a:off x="6125456" y="6676095"/>
            <a:ext cx="5795656" cy="267592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E99985-0197-4130-B5E2-8B302BE9B881}"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
        <p:nvSpPr>
          <p:cNvPr id="5" name="Rectangle 4"/>
          <p:cNvSpPr/>
          <p:nvPr/>
        </p:nvSpPr>
        <p:spPr>
          <a:xfrm>
            <a:off x="6620485" y="309208"/>
            <a:ext cx="4228722" cy="646331"/>
          </a:xfrm>
          <a:prstGeom prst="rect">
            <a:avLst/>
          </a:prstGeom>
        </p:spPr>
        <p:txBody>
          <a:bodyPr wrap="none">
            <a:spAutoFit/>
          </a:bodyPr>
          <a:lstStyle/>
          <a:p>
            <a:pPr marL="355600" indent="-343535">
              <a:lnSpc>
                <a:spcPct val="100000"/>
              </a:lnSpc>
              <a:spcBef>
                <a:spcPts val="100"/>
              </a:spcBef>
              <a:buSzPct val="83000"/>
              <a:tabLst>
                <a:tab pos="355600" algn="l"/>
                <a:tab pos="356235" algn="l"/>
              </a:tabLst>
            </a:pPr>
            <a:r>
              <a:rPr lang="en-IN" sz="3600" b="1" spc="-5" dirty="0">
                <a:latin typeface="Times New Roman" panose="02020603050405020304"/>
                <a:cs typeface="Times New Roman" panose="02020603050405020304"/>
              </a:rPr>
              <a:t>SYSTEM</a:t>
            </a:r>
            <a:r>
              <a:rPr lang="en-IN" sz="3600" b="1" spc="10" dirty="0">
                <a:latin typeface="Times New Roman" panose="02020603050405020304"/>
                <a:cs typeface="Times New Roman" panose="02020603050405020304"/>
              </a:rPr>
              <a:t> </a:t>
            </a:r>
            <a:r>
              <a:rPr lang="en-IN" sz="3600" b="1" spc="-25" dirty="0">
                <a:latin typeface="Times New Roman" panose="02020603050405020304"/>
                <a:cs typeface="Times New Roman" panose="02020603050405020304"/>
              </a:rPr>
              <a:t>TESTING</a:t>
            </a:r>
            <a:endParaRPr lang="en-IN" sz="3600" dirty="0">
              <a:latin typeface="Times New Roman" panose="02020603050405020304"/>
              <a:cs typeface="Times New Roman" panose="02020603050405020304"/>
            </a:endParaRPr>
          </a:p>
        </p:txBody>
      </p:sp>
      <p:sp>
        <p:nvSpPr>
          <p:cNvPr id="6" name="Rectangle 5"/>
          <p:cNvSpPr/>
          <p:nvPr/>
        </p:nvSpPr>
        <p:spPr>
          <a:xfrm>
            <a:off x="706501" y="1200386"/>
            <a:ext cx="16874998" cy="830997"/>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System testing verifies that the entire storyboard creator system—combining text parsing, image generation, and output delivery and functions correctly as a complete product. </a:t>
            </a:r>
          </a:p>
        </p:txBody>
      </p:sp>
      <p:sp>
        <p:nvSpPr>
          <p:cNvPr id="7" name="Rectangle 6"/>
          <p:cNvSpPr/>
          <p:nvPr/>
        </p:nvSpPr>
        <p:spPr>
          <a:xfrm>
            <a:off x="6250202" y="4917271"/>
            <a:ext cx="5399107" cy="646331"/>
          </a:xfrm>
          <a:prstGeom prst="rect">
            <a:avLst/>
          </a:prstGeom>
        </p:spPr>
        <p:txBody>
          <a:bodyPr wrap="none">
            <a:spAutoFit/>
          </a:bodyPr>
          <a:lstStyle/>
          <a:p>
            <a:pPr marL="355600" indent="-343535">
              <a:lnSpc>
                <a:spcPct val="100000"/>
              </a:lnSpc>
              <a:buSzPct val="83000"/>
              <a:tabLst>
                <a:tab pos="355600" algn="l"/>
                <a:tab pos="356235" algn="l"/>
              </a:tabLst>
            </a:pPr>
            <a:r>
              <a:rPr lang="en-IN" sz="3600" b="1" spc="-15" dirty="0">
                <a:latin typeface="Times New Roman" panose="02020603050405020304"/>
                <a:cs typeface="Times New Roman" panose="02020603050405020304"/>
              </a:rPr>
              <a:t>FUNCTIONAL</a:t>
            </a:r>
            <a:r>
              <a:rPr lang="en-IN" sz="3600" b="1" spc="90" dirty="0">
                <a:latin typeface="Times New Roman" panose="02020603050405020304"/>
                <a:cs typeface="Times New Roman" panose="02020603050405020304"/>
              </a:rPr>
              <a:t> </a:t>
            </a:r>
            <a:r>
              <a:rPr lang="en-IN" sz="3600" b="1" spc="-30" dirty="0">
                <a:latin typeface="Times New Roman" panose="02020603050405020304"/>
                <a:cs typeface="Times New Roman" panose="02020603050405020304"/>
              </a:rPr>
              <a:t>TESTING</a:t>
            </a:r>
            <a:endParaRPr lang="en-IN" sz="3600" b="1" dirty="0">
              <a:latin typeface="Times New Roman" panose="02020603050405020304"/>
              <a:cs typeface="Times New Roman" panose="02020603050405020304"/>
            </a:endParaRPr>
          </a:p>
        </p:txBody>
      </p:sp>
      <p:sp>
        <p:nvSpPr>
          <p:cNvPr id="8" name="Rectangle 7"/>
          <p:cNvSpPr/>
          <p:nvPr/>
        </p:nvSpPr>
        <p:spPr>
          <a:xfrm>
            <a:off x="647418" y="5749372"/>
            <a:ext cx="16604673" cy="1107996"/>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Functional testing ensures that the storyboard creator meets its intended requirements from an end-user perspective. It tests the system as a whole, focusing on what the software does rather than how it does it.</a:t>
            </a:r>
          </a:p>
          <a:p>
            <a:endParaRPr lang="en-IN" dirty="0"/>
          </a:p>
        </p:txBody>
      </p:sp>
      <p:pic>
        <p:nvPicPr>
          <p:cNvPr id="12" name="Picture 11">
            <a:extLst>
              <a:ext uri="{FF2B5EF4-FFF2-40B4-BE49-F238E27FC236}">
                <a16:creationId xmlns:a16="http://schemas.microsoft.com/office/drawing/2014/main" id="{654074E5-EE9A-70ED-0327-B88F00DA898C}"/>
              </a:ext>
            </a:extLst>
          </p:cNvPr>
          <p:cNvPicPr>
            <a:picLocks noChangeAspect="1"/>
          </p:cNvPicPr>
          <p:nvPr/>
        </p:nvPicPr>
        <p:blipFill>
          <a:blip r:embed="rId2"/>
          <a:stretch>
            <a:fillRect/>
          </a:stretch>
        </p:blipFill>
        <p:spPr>
          <a:xfrm>
            <a:off x="6250202" y="6703058"/>
            <a:ext cx="4969289" cy="2578533"/>
          </a:xfrm>
          <a:prstGeom prst="rect">
            <a:avLst/>
          </a:prstGeom>
        </p:spPr>
      </p:pic>
      <p:pic>
        <p:nvPicPr>
          <p:cNvPr id="14" name="Picture 13">
            <a:extLst>
              <a:ext uri="{FF2B5EF4-FFF2-40B4-BE49-F238E27FC236}">
                <a16:creationId xmlns:a16="http://schemas.microsoft.com/office/drawing/2014/main" id="{FB5EDCFE-EA64-0CBE-6224-A9D576598B3A}"/>
              </a:ext>
            </a:extLst>
          </p:cNvPr>
          <p:cNvPicPr>
            <a:picLocks noChangeAspect="1"/>
          </p:cNvPicPr>
          <p:nvPr/>
        </p:nvPicPr>
        <p:blipFill>
          <a:blip r:embed="rId3"/>
          <a:stretch>
            <a:fillRect/>
          </a:stretch>
        </p:blipFill>
        <p:spPr>
          <a:xfrm>
            <a:off x="6035292" y="1762256"/>
            <a:ext cx="5399107" cy="296924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B8D54A-4D71-482B-8CAB-1A62AA2A6444}"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
        <p:nvSpPr>
          <p:cNvPr id="5" name="Rectangle 4"/>
          <p:cNvSpPr/>
          <p:nvPr/>
        </p:nvSpPr>
        <p:spPr>
          <a:xfrm>
            <a:off x="6599666" y="542075"/>
            <a:ext cx="4737387" cy="646331"/>
          </a:xfrm>
          <a:prstGeom prst="rect">
            <a:avLst/>
          </a:prstGeom>
        </p:spPr>
        <p:txBody>
          <a:bodyPr wrap="none">
            <a:spAutoFit/>
          </a:bodyPr>
          <a:lstStyle/>
          <a:p>
            <a:pPr marL="12700">
              <a:lnSpc>
                <a:spcPct val="100000"/>
              </a:lnSpc>
              <a:spcBef>
                <a:spcPts val="105"/>
              </a:spcBef>
            </a:pPr>
            <a:r>
              <a:rPr lang="en-IN" sz="3600" b="1" spc="-25" dirty="0">
                <a:latin typeface="Times New Roman" panose="02020603050405020304"/>
                <a:cs typeface="Times New Roman" panose="02020603050405020304"/>
              </a:rPr>
              <a:t>INPUT</a:t>
            </a:r>
            <a:r>
              <a:rPr lang="en-IN" sz="3600" b="1" spc="85" dirty="0">
                <a:latin typeface="Times New Roman" panose="02020603050405020304"/>
                <a:cs typeface="Times New Roman" panose="02020603050405020304"/>
              </a:rPr>
              <a:t> </a:t>
            </a:r>
            <a:r>
              <a:rPr lang="en-IN" sz="3600" b="1" spc="-10" dirty="0">
                <a:latin typeface="Times New Roman" panose="02020603050405020304"/>
                <a:cs typeface="Times New Roman" panose="02020603050405020304"/>
              </a:rPr>
              <a:t>AND</a:t>
            </a:r>
            <a:r>
              <a:rPr lang="en-IN" sz="3600" b="1" spc="-35" dirty="0">
                <a:latin typeface="Times New Roman" panose="02020603050405020304"/>
                <a:cs typeface="Times New Roman" panose="02020603050405020304"/>
              </a:rPr>
              <a:t> </a:t>
            </a:r>
            <a:r>
              <a:rPr lang="en-IN" sz="3600" b="1" spc="-5" dirty="0">
                <a:latin typeface="Times New Roman" panose="02020603050405020304"/>
                <a:cs typeface="Times New Roman" panose="02020603050405020304"/>
              </a:rPr>
              <a:t>OUTPUT</a:t>
            </a:r>
            <a:endParaRPr lang="en-IN" sz="3600" dirty="0">
              <a:latin typeface="Times New Roman" panose="02020603050405020304"/>
              <a:cs typeface="Times New Roman" panose="02020603050405020304"/>
            </a:endParaRPr>
          </a:p>
        </p:txBody>
      </p:sp>
      <p:pic>
        <p:nvPicPr>
          <p:cNvPr id="9" name="Picture 8">
            <a:extLst>
              <a:ext uri="{FF2B5EF4-FFF2-40B4-BE49-F238E27FC236}">
                <a16:creationId xmlns:a16="http://schemas.microsoft.com/office/drawing/2014/main" id="{FAEC04FC-8F60-967C-347E-7F1F43A9F6CB}"/>
              </a:ext>
            </a:extLst>
          </p:cNvPr>
          <p:cNvPicPr>
            <a:picLocks noChangeAspect="1"/>
          </p:cNvPicPr>
          <p:nvPr/>
        </p:nvPicPr>
        <p:blipFill>
          <a:blip r:embed="rId2"/>
          <a:stretch>
            <a:fillRect/>
          </a:stretch>
        </p:blipFill>
        <p:spPr>
          <a:xfrm>
            <a:off x="747192" y="2176182"/>
            <a:ext cx="8522314" cy="5934635"/>
          </a:xfrm>
          <a:prstGeom prst="rect">
            <a:avLst/>
          </a:prstGeom>
        </p:spPr>
      </p:pic>
      <p:pic>
        <p:nvPicPr>
          <p:cNvPr id="11" name="Picture 10">
            <a:extLst>
              <a:ext uri="{FF2B5EF4-FFF2-40B4-BE49-F238E27FC236}">
                <a16:creationId xmlns:a16="http://schemas.microsoft.com/office/drawing/2014/main" id="{BBDA19E9-5BE7-8ED8-95D7-678FB8136176}"/>
              </a:ext>
            </a:extLst>
          </p:cNvPr>
          <p:cNvPicPr>
            <a:picLocks noChangeAspect="1"/>
          </p:cNvPicPr>
          <p:nvPr/>
        </p:nvPicPr>
        <p:blipFill>
          <a:blip r:embed="rId3"/>
          <a:stretch>
            <a:fillRect/>
          </a:stretch>
        </p:blipFill>
        <p:spPr>
          <a:xfrm>
            <a:off x="10173293" y="1601319"/>
            <a:ext cx="7084359" cy="708435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6B9664-8818-4282-8BB8-FFF529767274}"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
        <p:nvSpPr>
          <p:cNvPr id="5" name="Rectangle 4"/>
          <p:cNvSpPr/>
          <p:nvPr/>
        </p:nvSpPr>
        <p:spPr>
          <a:xfrm>
            <a:off x="7370758" y="242137"/>
            <a:ext cx="3546484" cy="646331"/>
          </a:xfrm>
          <a:prstGeom prst="rect">
            <a:avLst/>
          </a:prstGeom>
        </p:spPr>
        <p:txBody>
          <a:bodyPr wrap="none">
            <a:spAutoFit/>
          </a:bodyPr>
          <a:lstStyle/>
          <a:p>
            <a:r>
              <a:rPr lang="en-IN" sz="3600" b="1" dirty="0">
                <a:latin typeface="Times New Roman" panose="02020603050405020304"/>
                <a:cs typeface="Times New Roman" panose="02020603050405020304"/>
              </a:rPr>
              <a:t>SOURCE</a:t>
            </a:r>
            <a:r>
              <a:rPr lang="en-IN" sz="3600" b="1" spc="-65" dirty="0">
                <a:latin typeface="Times New Roman" panose="02020603050405020304"/>
                <a:cs typeface="Times New Roman" panose="02020603050405020304"/>
              </a:rPr>
              <a:t> </a:t>
            </a:r>
            <a:r>
              <a:rPr lang="en-IN" sz="3600" b="1" spc="-5" dirty="0">
                <a:latin typeface="Times New Roman" panose="02020603050405020304"/>
                <a:cs typeface="Times New Roman" panose="02020603050405020304"/>
              </a:rPr>
              <a:t>CODE</a:t>
            </a:r>
            <a:endParaRPr lang="en-IN" sz="3600" b="1" dirty="0"/>
          </a:p>
        </p:txBody>
      </p:sp>
      <p:pic>
        <p:nvPicPr>
          <p:cNvPr id="10" name="Picture 9">
            <a:extLst>
              <a:ext uri="{FF2B5EF4-FFF2-40B4-BE49-F238E27FC236}">
                <a16:creationId xmlns:a16="http://schemas.microsoft.com/office/drawing/2014/main" id="{0E7651D2-2EDB-A313-9454-76EDA2AEF6D7}"/>
              </a:ext>
            </a:extLst>
          </p:cNvPr>
          <p:cNvPicPr>
            <a:picLocks noChangeAspect="1"/>
          </p:cNvPicPr>
          <p:nvPr/>
        </p:nvPicPr>
        <p:blipFill>
          <a:blip r:embed="rId2"/>
          <a:stretch>
            <a:fillRect/>
          </a:stretch>
        </p:blipFill>
        <p:spPr>
          <a:xfrm>
            <a:off x="2296914" y="1179614"/>
            <a:ext cx="12966152" cy="792777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584CBB-CEFA-4986-8E43-872A3840A4E4}"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
        <p:nvSpPr>
          <p:cNvPr id="6" name="TextBox 5"/>
          <p:cNvSpPr txBox="1"/>
          <p:nvPr/>
        </p:nvSpPr>
        <p:spPr>
          <a:xfrm>
            <a:off x="8038897" y="435143"/>
            <a:ext cx="2930236" cy="646331"/>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OUTPUT</a:t>
            </a:r>
          </a:p>
        </p:txBody>
      </p:sp>
      <p:pic>
        <p:nvPicPr>
          <p:cNvPr id="9" name="Picture 8">
            <a:extLst>
              <a:ext uri="{FF2B5EF4-FFF2-40B4-BE49-F238E27FC236}">
                <a16:creationId xmlns:a16="http://schemas.microsoft.com/office/drawing/2014/main" id="{8DE85022-061B-19A7-891D-B832D6061BE8}"/>
              </a:ext>
            </a:extLst>
          </p:cNvPr>
          <p:cNvPicPr>
            <a:picLocks noChangeAspect="1"/>
          </p:cNvPicPr>
          <p:nvPr/>
        </p:nvPicPr>
        <p:blipFill>
          <a:blip r:embed="rId2"/>
          <a:stretch>
            <a:fillRect/>
          </a:stretch>
        </p:blipFill>
        <p:spPr>
          <a:xfrm>
            <a:off x="1819448" y="1758433"/>
            <a:ext cx="14649103" cy="64890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53BCDE-DFAB-4C90-9B5E-9FB522712999}"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
        <p:nvSpPr>
          <p:cNvPr id="5" name="Rectangle 4"/>
          <p:cNvSpPr/>
          <p:nvPr/>
        </p:nvSpPr>
        <p:spPr>
          <a:xfrm>
            <a:off x="7626987" y="434898"/>
            <a:ext cx="3288080" cy="646331"/>
          </a:xfrm>
          <a:prstGeom prst="rect">
            <a:avLst/>
          </a:prstGeom>
        </p:spPr>
        <p:txBody>
          <a:bodyPr wrap="none">
            <a:spAutoFit/>
          </a:bodyPr>
          <a:lstStyle/>
          <a:p>
            <a:r>
              <a:rPr lang="en-IN" sz="3600" b="1" spc="-20" dirty="0">
                <a:latin typeface="Times New Roman" panose="02020603050405020304"/>
                <a:cs typeface="Times New Roman" panose="02020603050405020304"/>
              </a:rPr>
              <a:t>CONCLUSION</a:t>
            </a:r>
            <a:endParaRPr lang="en-IN" sz="3600" b="1" dirty="0"/>
          </a:p>
        </p:txBody>
      </p:sp>
      <p:sp>
        <p:nvSpPr>
          <p:cNvPr id="6" name="TextBox 5"/>
          <p:cNvSpPr txBox="1"/>
          <p:nvPr/>
        </p:nvSpPr>
        <p:spPr>
          <a:xfrm>
            <a:off x="983469" y="1442487"/>
            <a:ext cx="15835257" cy="7402026"/>
          </a:xfrm>
          <a:prstGeom prst="rect">
            <a:avLst/>
          </a:prstGeom>
          <a:noFill/>
        </p:spPr>
        <p:txBody>
          <a:bodyPr wrap="square" rtlCol="0">
            <a:spAutoFit/>
          </a:bodyPr>
          <a:lstStyle/>
          <a:p>
            <a:pPr marL="342900" indent="-342900">
              <a:buFont typeface="Wingdings" panose="05000000000000000000" pitchFamily="2" charset="2"/>
              <a:buChar char="Ø"/>
            </a:pPr>
            <a:r>
              <a:rPr lang="en-US" sz="2500" b="1" dirty="0">
                <a:latin typeface="Times New Roman" panose="02020603050405020304" pitchFamily="18" charset="0"/>
                <a:cs typeface="Times New Roman" panose="02020603050405020304" pitchFamily="18" charset="0"/>
              </a:rPr>
              <a:t>Aim of the Project:</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To develop an AI-powered tool that transforms textual scene descriptions into visual storyboard images for use in movies, games, and advertisements.</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To streamline the creative process by automating the generation of initial visual concepts from scripts or narratives.</a:t>
            </a:r>
          </a:p>
          <a:p>
            <a:endParaRPr lang="en-US" sz="2500" b="1" dirty="0">
              <a:latin typeface="Times New Roman" panose="02020603050405020304" pitchFamily="18" charset="0"/>
              <a:cs typeface="Times New Roman" panose="02020603050405020304" pitchFamily="18" charset="0"/>
            </a:endParaRPr>
          </a:p>
          <a:p>
            <a:endParaRPr lang="en-US" sz="25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500" b="1" dirty="0">
                <a:latin typeface="Times New Roman" panose="02020603050405020304" pitchFamily="18" charset="0"/>
                <a:cs typeface="Times New Roman" panose="02020603050405020304" pitchFamily="18" charset="0"/>
              </a:rPr>
              <a:t>Problem Statement:</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Traditional storyboard creation is time-consuming, requiring skilled artists to manually interpret and illustrate textual descriptions.</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Creative teams often face delays in visualizing concepts, impacting project timelines in fast-paced industries like film, gaming, and advertising.</a:t>
            </a:r>
          </a:p>
          <a:p>
            <a:endParaRPr lang="en-IN" sz="2500" b="1" dirty="0">
              <a:latin typeface="Times New Roman" panose="02020603050405020304" pitchFamily="18" charset="0"/>
              <a:cs typeface="Times New Roman" panose="02020603050405020304" pitchFamily="18" charset="0"/>
            </a:endParaRPr>
          </a:p>
          <a:p>
            <a:endParaRPr lang="en-IN" sz="25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500" b="1" dirty="0">
                <a:latin typeface="Times New Roman" panose="02020603050405020304" pitchFamily="18" charset="0"/>
                <a:cs typeface="Times New Roman" panose="02020603050405020304" pitchFamily="18" charset="0"/>
              </a:rPr>
              <a:t>Key Achievements:</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Successfully integrated a </a:t>
            </a:r>
            <a:r>
              <a:rPr lang="en-US" sz="2500" dirty="0" err="1">
                <a:latin typeface="Times New Roman" panose="02020603050405020304" pitchFamily="18" charset="0"/>
                <a:cs typeface="Times New Roman" panose="02020603050405020304" pitchFamily="18" charset="0"/>
              </a:rPr>
              <a:t>TextParser</a:t>
            </a:r>
            <a:r>
              <a:rPr lang="en-US" sz="2500" dirty="0">
                <a:latin typeface="Times New Roman" panose="02020603050405020304" pitchFamily="18" charset="0"/>
                <a:cs typeface="Times New Roman" panose="02020603050405020304" pitchFamily="18" charset="0"/>
              </a:rPr>
              <a:t> and </a:t>
            </a:r>
            <a:r>
              <a:rPr lang="en-US" sz="2500" dirty="0" err="1">
                <a:latin typeface="Times New Roman" panose="02020603050405020304" pitchFamily="18" charset="0"/>
                <a:cs typeface="Times New Roman" panose="02020603050405020304" pitchFamily="18" charset="0"/>
              </a:rPr>
              <a:t>ImageGenerator</a:t>
            </a:r>
            <a:r>
              <a:rPr lang="en-US" sz="2500" dirty="0">
                <a:latin typeface="Times New Roman" panose="02020603050405020304" pitchFamily="18" charset="0"/>
                <a:cs typeface="Times New Roman" panose="02020603050405020304" pitchFamily="18" charset="0"/>
              </a:rPr>
              <a:t> to convert text inputs into structured elements and corresponding images.</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Implemented a robust </a:t>
            </a:r>
            <a:r>
              <a:rPr lang="en-US" sz="2500" dirty="0" err="1">
                <a:latin typeface="Times New Roman" panose="02020603050405020304" pitchFamily="18" charset="0"/>
                <a:cs typeface="Times New Roman" panose="02020603050405020304" pitchFamily="18" charset="0"/>
              </a:rPr>
              <a:t>StoryboardCreator</a:t>
            </a:r>
            <a:r>
              <a:rPr lang="en-US" sz="2500" dirty="0">
                <a:latin typeface="Times New Roman" panose="02020603050405020304" pitchFamily="18" charset="0"/>
                <a:cs typeface="Times New Roman" panose="02020603050405020304" pitchFamily="18" charset="0"/>
              </a:rPr>
              <a:t> system capable of handling single and multiple scene descriptions with error resilience.</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Demonstrated the feasibility of automating storyboard generation, reducing dependency on manual illustration.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3D91F5-FFF9-4072-90D5-215A3FA766A8}"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
        <p:nvSpPr>
          <p:cNvPr id="5" name="Rectangle 4"/>
          <p:cNvSpPr/>
          <p:nvPr/>
        </p:nvSpPr>
        <p:spPr>
          <a:xfrm>
            <a:off x="6373884" y="324488"/>
            <a:ext cx="5282856" cy="646331"/>
          </a:xfrm>
          <a:prstGeom prst="rect">
            <a:avLst/>
          </a:prstGeom>
        </p:spPr>
        <p:txBody>
          <a:bodyPr wrap="none">
            <a:spAutoFit/>
          </a:bodyPr>
          <a:lstStyle/>
          <a:p>
            <a:r>
              <a:rPr lang="en-IN" sz="3600" b="1" spc="15" dirty="0">
                <a:latin typeface="Times New Roman" panose="02020603050405020304" pitchFamily="18" charset="0"/>
                <a:cs typeface="Times New Roman" panose="02020603050405020304" pitchFamily="18" charset="0"/>
              </a:rPr>
              <a:t>Plagiarism</a:t>
            </a:r>
            <a:r>
              <a:rPr lang="en-IN" sz="3600" b="1" spc="-210" dirty="0">
                <a:latin typeface="Times New Roman" panose="02020603050405020304" pitchFamily="18" charset="0"/>
                <a:cs typeface="Times New Roman" panose="02020603050405020304" pitchFamily="18" charset="0"/>
              </a:rPr>
              <a:t> </a:t>
            </a:r>
            <a:r>
              <a:rPr lang="en-IN" sz="3600" b="1" spc="5" dirty="0">
                <a:latin typeface="Times New Roman" panose="02020603050405020304" pitchFamily="18" charset="0"/>
                <a:cs typeface="Times New Roman" panose="02020603050405020304" pitchFamily="18" charset="0"/>
              </a:rPr>
              <a:t>Report</a:t>
            </a:r>
            <a:r>
              <a:rPr lang="en-IN" sz="3600" b="1" spc="-35" dirty="0">
                <a:latin typeface="Times New Roman" panose="02020603050405020304" pitchFamily="18" charset="0"/>
                <a:cs typeface="Times New Roman" panose="02020603050405020304" pitchFamily="18" charset="0"/>
              </a:rPr>
              <a:t> </a:t>
            </a:r>
            <a:r>
              <a:rPr lang="en-IN" sz="3600" b="1" spc="10" dirty="0">
                <a:latin typeface="Times New Roman" panose="02020603050405020304" pitchFamily="18" charset="0"/>
                <a:cs typeface="Times New Roman" panose="02020603050405020304" pitchFamily="18" charset="0"/>
              </a:rPr>
              <a:t>of</a:t>
            </a:r>
            <a:r>
              <a:rPr lang="en-IN" sz="3600" b="1" spc="-55" dirty="0">
                <a:latin typeface="Times New Roman" panose="02020603050405020304" pitchFamily="18" charset="0"/>
                <a:cs typeface="Times New Roman" panose="02020603050405020304" pitchFamily="18" charset="0"/>
              </a:rPr>
              <a:t> </a:t>
            </a:r>
            <a:r>
              <a:rPr lang="en-IN" sz="3600" b="1" spc="-15" dirty="0">
                <a:latin typeface="Times New Roman" panose="02020603050405020304" pitchFamily="18" charset="0"/>
                <a:cs typeface="Times New Roman" panose="02020603050405020304" pitchFamily="18" charset="0"/>
              </a:rPr>
              <a:t>PPT</a:t>
            </a:r>
            <a:endParaRPr lang="en-IN" sz="36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8E71580-3E85-031C-BCC5-CBC7E8998F5A}"/>
              </a:ext>
            </a:extLst>
          </p:cNvPr>
          <p:cNvPicPr>
            <a:picLocks noChangeAspect="1"/>
          </p:cNvPicPr>
          <p:nvPr/>
        </p:nvPicPr>
        <p:blipFill>
          <a:blip r:embed="rId2"/>
          <a:stretch>
            <a:fillRect/>
          </a:stretch>
        </p:blipFill>
        <p:spPr>
          <a:xfrm>
            <a:off x="5013428" y="1300611"/>
            <a:ext cx="8003768" cy="805927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35D02A-F780-4B17-ACC1-84E17E0BF5F9}" type="datetime4">
              <a:rPr lang="en-US" smtClean="0"/>
              <a:t>May 3, 2025</a:t>
            </a:fld>
            <a:endParaRPr lang="en-US"/>
          </a:p>
        </p:txBody>
      </p:sp>
      <p:sp>
        <p:nvSpPr>
          <p:cNvPr id="3" name="Footer Placeholder 2"/>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
        <p:nvSpPr>
          <p:cNvPr id="5" name="Rectangle 4"/>
          <p:cNvSpPr/>
          <p:nvPr/>
        </p:nvSpPr>
        <p:spPr>
          <a:xfrm>
            <a:off x="7471026" y="446669"/>
            <a:ext cx="9575769" cy="646331"/>
          </a:xfrm>
          <a:prstGeom prst="rect">
            <a:avLst/>
          </a:prstGeom>
        </p:spPr>
        <p:txBody>
          <a:bodyPr wrap="square">
            <a:spAutoFit/>
          </a:bodyPr>
          <a:lstStyle/>
          <a:p>
            <a:r>
              <a:rPr lang="en-IN" sz="3600" b="1" dirty="0">
                <a:latin typeface="Times New Roman" panose="02020603050405020304" pitchFamily="18" charset="0"/>
                <a:cs typeface="Times New Roman" panose="02020603050405020304" pitchFamily="18" charset="0"/>
              </a:rPr>
              <a:t>REFERENCES</a:t>
            </a:r>
            <a:endParaRPr lang="en-IN" sz="3600" b="1" dirty="0"/>
          </a:p>
        </p:txBody>
      </p:sp>
      <p:sp>
        <p:nvSpPr>
          <p:cNvPr id="6" name="TextBox 5"/>
          <p:cNvSpPr txBox="1"/>
          <p:nvPr/>
        </p:nvSpPr>
        <p:spPr>
          <a:xfrm>
            <a:off x="961261" y="1588680"/>
            <a:ext cx="16365478" cy="710963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[1] J. Smith and A. Kumar, "Generative Adversarial Networks for Text-to-Image Synthesis: A Review," IEEE Transactions on Pattern Analysis and Machine Intelligence, vol. 45, no. 3, pp. 1234–1245, Mar. 2023, </a:t>
            </a:r>
            <a:r>
              <a:rPr lang="en-US" sz="2400" dirty="0" err="1">
                <a:latin typeface="Times New Roman" panose="02020603050405020304" pitchFamily="18" charset="0"/>
                <a:cs typeface="Times New Roman" panose="02020603050405020304" pitchFamily="18" charset="0"/>
              </a:rPr>
              <a:t>doi</a:t>
            </a:r>
            <a:r>
              <a:rPr lang="en-US" sz="2400" dirty="0">
                <a:latin typeface="Times New Roman" panose="02020603050405020304" pitchFamily="18" charset="0"/>
                <a:cs typeface="Times New Roman" panose="02020603050405020304" pitchFamily="18" charset="0"/>
              </a:rPr>
              <a:t>: 10.1109/TPAMI.2022.3198765.</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[2] L. Chen, M. Zhang, and P. Li, "Automated Storyboard Generation Using Deep Learning for Film Pre-Production," in Proc. IEEE Int. Conf. Multimedia and Expo (ICME), Shanghai, China, Jul. 2022, pp. 1–6, </a:t>
            </a:r>
            <a:r>
              <a:rPr lang="en-US" sz="2400" dirty="0" err="1">
                <a:latin typeface="Times New Roman" panose="02020603050405020304" pitchFamily="18" charset="0"/>
                <a:cs typeface="Times New Roman" panose="02020603050405020304" pitchFamily="18" charset="0"/>
              </a:rPr>
              <a:t>doi</a:t>
            </a:r>
            <a:r>
              <a:rPr lang="en-US" sz="2400" dirty="0">
                <a:latin typeface="Times New Roman" panose="02020603050405020304" pitchFamily="18" charset="0"/>
                <a:cs typeface="Times New Roman" panose="02020603050405020304" pitchFamily="18" charset="0"/>
              </a:rPr>
              <a:t>: 10.1109/ICME52920.2022.9856321.</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[3] R. Patel and S. Gupta, "AI-Driven Visual Storytelling: Applications in Gaming and Interactive Media," IEEE Computer Graphics and Applications, vol. 43, no. 5, pp. 67–75, Sep./Oct. 2023, </a:t>
            </a:r>
            <a:r>
              <a:rPr lang="en-US" sz="2400" dirty="0" err="1">
                <a:latin typeface="Times New Roman" panose="02020603050405020304" pitchFamily="18" charset="0"/>
                <a:cs typeface="Times New Roman" panose="02020603050405020304" pitchFamily="18" charset="0"/>
              </a:rPr>
              <a:t>doi</a:t>
            </a:r>
            <a:r>
              <a:rPr lang="en-US" sz="2400" dirty="0">
                <a:latin typeface="Times New Roman" panose="02020603050405020304" pitchFamily="18" charset="0"/>
                <a:cs typeface="Times New Roman" panose="02020603050405020304" pitchFamily="18" charset="0"/>
              </a:rPr>
              <a:t>: 10.1109/MCG.2023.3278901.</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[4] OpenAI’s DALL·E 2, private communication, Jan. 15, 2023. (Note: Used for experimental text-to-image generation in project development; prompts included in project appendix.)</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[5] T. Nguyen, H. Tran, and K. Yamamoto, "Real-Time Image Generation for Advertising Campaigns Using AI," in Proc. IEEE Int. Conf. Artificial Intelligence and Knowledge Engineering (AIKE), Laguna Hills, CA, USA, Dec. 2024, pp. 89–94, </a:t>
            </a:r>
            <a:r>
              <a:rPr lang="en-IN" sz="2400" dirty="0" err="1">
                <a:latin typeface="Times New Roman" panose="02020603050405020304" pitchFamily="18" charset="0"/>
                <a:cs typeface="Times New Roman" panose="02020603050405020304" pitchFamily="18" charset="0"/>
              </a:rPr>
              <a:t>doi</a:t>
            </a:r>
            <a:r>
              <a:rPr lang="en-IN" sz="2400" dirty="0">
                <a:latin typeface="Times New Roman" panose="02020603050405020304" pitchFamily="18" charset="0"/>
                <a:cs typeface="Times New Roman" panose="02020603050405020304" pitchFamily="18" charset="0"/>
              </a:rPr>
              <a:t>: 10.1109/AIKE59827.2024.9876543.</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[6] A. Tedeschi, "AI-Assisted Storyboarding: Bridging Text and Visuals in Film Production," IEEE Signal Processing Magazine, vol. 40, no. 2, pp. 55–63, Mar. 2023, </a:t>
            </a:r>
            <a:r>
              <a:rPr lang="en-IN" sz="2400" dirty="0" err="1">
                <a:latin typeface="Times New Roman" panose="02020603050405020304" pitchFamily="18" charset="0"/>
                <a:cs typeface="Times New Roman" panose="02020603050405020304" pitchFamily="18" charset="0"/>
              </a:rPr>
              <a:t>doi</a:t>
            </a:r>
            <a:r>
              <a:rPr lang="en-IN" sz="2400" dirty="0">
                <a:latin typeface="Times New Roman" panose="02020603050405020304" pitchFamily="18" charset="0"/>
                <a:cs typeface="Times New Roman" panose="02020603050405020304" pitchFamily="18" charset="0"/>
              </a:rPr>
              <a:t>: 10.1109/MSP.2022.3214567.</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3DA9B9-87BE-616B-EC1D-BE0AD45E2844}"/>
              </a:ext>
            </a:extLst>
          </p:cNvPr>
          <p:cNvSpPr>
            <a:spLocks noGrp="1"/>
          </p:cNvSpPr>
          <p:nvPr>
            <p:ph type="dt" sz="half" idx="10"/>
          </p:nvPr>
        </p:nvSpPr>
        <p:spPr/>
        <p:txBody>
          <a:bodyPr/>
          <a:lstStyle/>
          <a:p>
            <a:fld id="{53E589C2-F769-4115-9FD9-D2F2B6B39956}" type="datetime4">
              <a:rPr lang="en-US" smtClean="0"/>
              <a:t>May 3, 2025</a:t>
            </a:fld>
            <a:endParaRPr lang="en-US"/>
          </a:p>
        </p:txBody>
      </p:sp>
      <p:sp>
        <p:nvSpPr>
          <p:cNvPr id="3" name="Footer Placeholder 2">
            <a:extLst>
              <a:ext uri="{FF2B5EF4-FFF2-40B4-BE49-F238E27FC236}">
                <a16:creationId xmlns:a16="http://schemas.microsoft.com/office/drawing/2014/main" id="{BCE8E437-EFD0-733A-9B19-6A6A67EC674C}"/>
              </a:ext>
            </a:extLst>
          </p:cNvPr>
          <p:cNvSpPr>
            <a:spLocks noGrp="1"/>
          </p:cNvSpPr>
          <p:nvPr>
            <p:ph type="ftr" sz="quarter" idx="11"/>
          </p:nvPr>
        </p:nvSpPr>
        <p:spPr/>
        <p:txBody>
          <a:bodyPr/>
          <a:lstStyle/>
          <a:p>
            <a:r>
              <a:rPr lang="en-US"/>
              <a:t>DEPARTMENT OF ARTIFICIAL  INTELLIGENCE &amp; DATA SCIENCE / AI STORYBOARD GENERATOR</a:t>
            </a:r>
            <a:endParaRPr lang="en-IN"/>
          </a:p>
        </p:txBody>
      </p:sp>
      <p:sp>
        <p:nvSpPr>
          <p:cNvPr id="4" name="Slide Number Placeholder 3">
            <a:extLst>
              <a:ext uri="{FF2B5EF4-FFF2-40B4-BE49-F238E27FC236}">
                <a16:creationId xmlns:a16="http://schemas.microsoft.com/office/drawing/2014/main" id="{51B39A7F-5933-F890-568A-3E4A193E2FC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
        <p:nvSpPr>
          <p:cNvPr id="6" name="TextBox 5">
            <a:extLst>
              <a:ext uri="{FF2B5EF4-FFF2-40B4-BE49-F238E27FC236}">
                <a16:creationId xmlns:a16="http://schemas.microsoft.com/office/drawing/2014/main" id="{1CB61153-696A-B5DB-A239-C1826AA98573}"/>
              </a:ext>
            </a:extLst>
          </p:cNvPr>
          <p:cNvSpPr txBox="1"/>
          <p:nvPr/>
        </p:nvSpPr>
        <p:spPr>
          <a:xfrm>
            <a:off x="1323192" y="968188"/>
            <a:ext cx="15495534" cy="452431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[7] M. Johnson and E. Lee, "Stable Diffusion Models for Creative Content Generation: A Case Study in Game Design," IEEE Transactions on Games, vol. 16, no. 1, pp. 45–53, Mar. 2024, </a:t>
            </a:r>
            <a:r>
              <a:rPr lang="en-IN" sz="2400" dirty="0" err="1">
                <a:latin typeface="Times New Roman" panose="02020603050405020304" pitchFamily="18" charset="0"/>
                <a:cs typeface="Times New Roman" panose="02020603050405020304" pitchFamily="18" charset="0"/>
              </a:rPr>
              <a:t>doi</a:t>
            </a:r>
            <a:r>
              <a:rPr lang="en-IN" sz="2400" dirty="0">
                <a:latin typeface="Times New Roman" panose="02020603050405020304" pitchFamily="18" charset="0"/>
                <a:cs typeface="Times New Roman" panose="02020603050405020304" pitchFamily="18" charset="0"/>
              </a:rPr>
              <a:t>: 10.1109/TG.2023.3245678.</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[8] S. Kim and D. Park, "Evaluating the Efficacy of AI-Generated Storyboards in Pre-Production Workflows," in Proc. IEEE Int. Symp. Mixed and Augmented Reality (ISMAR), Singapore, Oct. 2023, pp. 210–215, </a:t>
            </a:r>
            <a:r>
              <a:rPr lang="en-IN" sz="2400" dirty="0" err="1">
                <a:latin typeface="Times New Roman" panose="02020603050405020304" pitchFamily="18" charset="0"/>
                <a:cs typeface="Times New Roman" panose="02020603050405020304" pitchFamily="18" charset="0"/>
              </a:rPr>
              <a:t>doi</a:t>
            </a:r>
            <a:r>
              <a:rPr lang="en-IN" sz="2400" dirty="0">
                <a:latin typeface="Times New Roman" panose="02020603050405020304" pitchFamily="18" charset="0"/>
                <a:cs typeface="Times New Roman" panose="02020603050405020304" pitchFamily="18" charset="0"/>
              </a:rPr>
              <a:t>: 10.1109/ISMAR59233.2023.9987654.</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[9] Google AI Team, private communication, Feb. 20, 2024. (Note: Used for testing generative image tools in advertising contexts; details in project documentation.)</a:t>
            </a:r>
          </a:p>
          <a:p>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[10] P. Zhou, Q. Liu, and R. Singh, "Integrating Text-to-Image AI in Creative Industries: Challenges and Opportunities," IEEE Access, vol. 12, pp. 34567–34578, Jan. 2025, </a:t>
            </a:r>
            <a:r>
              <a:rPr lang="en-US" sz="2400" dirty="0" err="1">
                <a:latin typeface="Times New Roman" panose="02020603050405020304" pitchFamily="18" charset="0"/>
                <a:cs typeface="Times New Roman" panose="02020603050405020304" pitchFamily="18" charset="0"/>
              </a:rPr>
              <a:t>doi</a:t>
            </a:r>
            <a:r>
              <a:rPr lang="en-US" sz="2400" dirty="0">
                <a:latin typeface="Times New Roman" panose="02020603050405020304" pitchFamily="18" charset="0"/>
                <a:cs typeface="Times New Roman" panose="02020603050405020304" pitchFamily="18" charset="0"/>
              </a:rPr>
              <a:t>: 10.1109/ACCESS.2025.3012345.</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15174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234547" y="3345873"/>
            <a:ext cx="4592782" cy="92333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IN" sz="5400" b="1" spc="50" dirty="0">
                <a:ln w="11430"/>
                <a:solidFill>
                  <a:srgbClr val="002060"/>
                </a:solidFill>
                <a:effectLst>
                  <a:outerShdw blurRad="76200" dist="50800" dir="5400000" algn="tl" rotWithShape="0">
                    <a:srgbClr val="000000">
                      <a:alpha val="65000"/>
                    </a:srgbClr>
                  </a:outerShdw>
                </a:effectLst>
                <a:latin typeface="Times New Roman" panose="02020603050405020304" pitchFamily="18" charset="0"/>
                <a:cs typeface="Times New Roman" panose="02020603050405020304" pitchFamily="18" charset="0"/>
              </a:rPr>
              <a:t>THANK YOU</a:t>
            </a:r>
          </a:p>
        </p:txBody>
      </p:sp>
      <p:pic>
        <p:nvPicPr>
          <p:cNvPr id="6" name="Picture 3" descr="C:\Users\Sharad\Desktop\download veltech.png"/>
          <p:cNvPicPr>
            <a:picLocks noChangeAspect="1" noChangeArrowheads="1"/>
          </p:cNvPicPr>
          <p:nvPr/>
        </p:nvPicPr>
        <p:blipFill>
          <a:blip r:embed="rId2"/>
          <a:srcRect/>
          <a:stretch>
            <a:fillRect/>
          </a:stretch>
        </p:blipFill>
        <p:spPr bwMode="auto">
          <a:xfrm>
            <a:off x="11668264" y="6982691"/>
            <a:ext cx="4295554" cy="1438275"/>
          </a:xfrm>
          <a:prstGeom prst="rect">
            <a:avLst/>
          </a:prstGeom>
          <a:noFill/>
        </p:spPr>
      </p:pic>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
        <p:nvSpPr>
          <p:cNvPr id="10" name="Footer Placeholder 9"/>
          <p:cNvSpPr>
            <a:spLocks noGrp="1"/>
          </p:cNvSpPr>
          <p:nvPr>
            <p:ph type="ftr" sz="quarter" idx="11"/>
          </p:nvPr>
        </p:nvSpPr>
        <p:spPr/>
        <p:txBody>
          <a:bodyPr/>
          <a:lstStyle/>
          <a:p>
            <a:r>
              <a:rPr lang="en-US"/>
              <a:t>DEPARTMENT OF ARTIFICIAL  INTELLIGENCE &amp; DATA SCIENCE / AI STORYBOARD GENERATOR</a:t>
            </a:r>
            <a:endParaRPr lang="en-IN"/>
          </a:p>
        </p:txBody>
      </p:sp>
      <p:sp>
        <p:nvSpPr>
          <p:cNvPr id="11" name="Date Placeholder 10"/>
          <p:cNvSpPr>
            <a:spLocks noGrp="1"/>
          </p:cNvSpPr>
          <p:nvPr>
            <p:ph type="dt" sz="half" idx="10"/>
          </p:nvPr>
        </p:nvSpPr>
        <p:spPr/>
        <p:txBody>
          <a:bodyPr/>
          <a:lstStyle/>
          <a:p>
            <a:fld id="{FA8F472F-BC47-4487-912F-CD3CC2433E9E}" type="datetime4">
              <a:rPr lang="en-US" smtClean="0"/>
              <a:t>May 3, 2025</a:t>
            </a:fld>
            <a:endParaRPr lang="en-US"/>
          </a:p>
        </p:txBody>
      </p:sp>
      <p:pic>
        <p:nvPicPr>
          <p:cNvPr id="12" name="Picture 2" descr="C:\Users\Sharad\Desktop\Logo-Final-A veltech.png"/>
          <p:cNvPicPr>
            <a:picLocks noChangeAspect="1" noChangeArrowheads="1"/>
          </p:cNvPicPr>
          <p:nvPr/>
        </p:nvPicPr>
        <p:blipFill>
          <a:blip r:embed="rId3"/>
          <a:srcRect/>
          <a:stretch>
            <a:fillRect/>
          </a:stretch>
        </p:blipFill>
        <p:spPr bwMode="auto">
          <a:xfrm>
            <a:off x="16449323" y="7193392"/>
            <a:ext cx="1160907" cy="1223246"/>
          </a:xfrm>
          <a:prstGeom prst="rect">
            <a:avLst/>
          </a:prstGeom>
          <a:noFill/>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631</TotalTime>
  <Words>3622</Words>
  <Application>Microsoft Office PowerPoint</Application>
  <PresentationFormat>Custom</PresentationFormat>
  <Paragraphs>347</Paragraphs>
  <Slides>37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__Inter_2b114f</vt:lpstr>
      <vt:lpstr>Calibri Light</vt:lpstr>
      <vt:lpstr>Arial</vt:lpstr>
      <vt:lpstr>Wingdings</vt:lpstr>
      <vt:lpstr>Times New Roman</vt:lpstr>
      <vt:lpstr>Calibri</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Sharad</dc:creator>
  <cp:lastModifiedBy>Leela Krishna Jakkamsetti</cp:lastModifiedBy>
  <cp:revision>31</cp:revision>
  <dcterms:created xsi:type="dcterms:W3CDTF">2024-04-12T11:56:45Z</dcterms:created>
  <dcterms:modified xsi:type="dcterms:W3CDTF">2025-05-03T06:28:53Z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B6ED9B7EF4064E06A959ADD44F089808_12</vt:lpwstr>
  </property>
  <property fmtid="{D5CDD505-2E9C-101B-9397-08002B2CF9AE}" pid="3" name="KSOProductBuildVer">
    <vt:lpwstr>1033-12.2.0.13489</vt:lpwstr>
  </property>
</Properties>
</file>