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04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  <p:sldId id="272" r:id="rId14"/>
    <p:sldId id="273" r:id="rId15"/>
    <p:sldId id="325" r:id="rId16"/>
    <p:sldId id="269" r:id="rId17"/>
    <p:sldId id="270" r:id="rId18"/>
    <p:sldId id="326" r:id="rId19"/>
    <p:sldId id="271" r:id="rId20"/>
  </p:sldIdLst>
  <p:sldSz cx="9144000" cy="5143500" type="screen16x9"/>
  <p:notesSz cx="6797675" cy="9926638"/>
  <p:defaultTextStyle>
    <a:defPPr lvl="0">
      <a:defRPr lang="en-US"/>
    </a:defPPr>
    <a:lvl1pPr lvl="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lvl="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lvl="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lvl="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lvl="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>
        <p:scale>
          <a:sx n="83" d="100"/>
          <a:sy n="83" d="100"/>
        </p:scale>
        <p:origin x="816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61F6FC2-9645-479A-A309-27B8F5654211}" type="datetimeFigureOut">
              <a:rPr lang="en-US"/>
              <a:pPr>
                <a:defRPr/>
              </a:pPr>
              <a:t>5/8/2025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3742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CB6598-6B20-4959-AEAD-7269146248E2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A0B9A4-208B-4E16-B555-2A51F0BFB952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3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6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9A8A3-5E40-4D37-96BF-4D03983E50A4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92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3C294-6E8C-44B4-98BA-B71F441E11DA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44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5EB36B-7579-4E22-A75C-1F345D5742FF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1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CF55F-6193-48A8-A7F6-3FEF82D24804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01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1020D-54A8-4FFB-A1CA-FD4B919658D9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9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3D5D28-C9FF-4D3A-BB99-C138B6E9F587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681E7-1AF9-42CC-BEC0-592AA2C12F55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7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E4B7A-DF25-4C56-B396-6170996E16F8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4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0D5A71-0894-4150-92A8-237524E8F949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4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0B68EF4-4A93-4254-93FA-70D1F2A755E3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BATCH NO: 21         DEPARTMENT OF ARTIFICIAL INTELLIGENCE &amp; DATA SCIENCE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31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D42616-A184-4EF7-99E6-30C046A63288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3467" y="1393680"/>
            <a:ext cx="8160442" cy="1790573"/>
          </a:xfrm>
        </p:spPr>
        <p:txBody>
          <a:bodyPr/>
          <a:lstStyle/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DEPARTMENT OF ARTIFICIAL INTELLIGENCE &amp; DATA SCIENCE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SCHOOL OF COMPUTING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10214AD602- MINOR PROJECT – II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ACADEMIC YEAR – 2024-2025(WINTER SEMESTER)</a:t>
            </a: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END SEMESTER VIVA VOCE</a:t>
            </a:r>
          </a:p>
          <a:p>
            <a:pPr algn="ctr">
              <a:defRPr/>
            </a:pPr>
            <a:endParaRPr lang="en-US" sz="14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>
              <a:defRPr/>
            </a:pPr>
            <a:r>
              <a:rPr lang="en-IN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“AI-Powered Storyboard Creator: Generative Text-to-Image Tool for Movies, Games and Ads</a:t>
            </a:r>
            <a:r>
              <a:rPr lang="en-IN" sz="18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C8B3AA75-1EA1-4A20-9182-A423EE2FFA8F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8197" name="TextBox 6"/>
          <p:cNvSpPr txBox="1">
            <a:spLocks noChangeArrowheads="1"/>
          </p:cNvSpPr>
          <p:nvPr/>
        </p:nvSpPr>
        <p:spPr bwMode="auto">
          <a:xfrm flipH="1">
            <a:off x="-482950" y="3650092"/>
            <a:ext cx="47029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PRESENTED BY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1. NAVADEEP J (VTU23403)(22UEAD0040)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  2. HARSHITTH G (VTU24248)(22UEAD0011)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                3. SIDDESWAR REDDY M (VTU21541)(22UEAD0037)</a:t>
            </a:r>
          </a:p>
        </p:txBody>
      </p:sp>
      <p:sp>
        <p:nvSpPr>
          <p:cNvPr id="8" name="Freeform 11"/>
          <p:cNvSpPr/>
          <p:nvPr/>
        </p:nvSpPr>
        <p:spPr>
          <a:xfrm>
            <a:off x="48491" y="48491"/>
            <a:ext cx="3171119" cy="942109"/>
          </a:xfrm>
          <a:custGeom>
            <a:avLst/>
            <a:gdLst/>
            <a:ahLst/>
            <a:cxnLst/>
            <a:rect l="l" t="t" r="r" b="b"/>
            <a:pathLst>
              <a:path w="3953781" h="1147922">
                <a:moveTo>
                  <a:pt x="0" y="0"/>
                </a:moveTo>
                <a:lnTo>
                  <a:pt x="3953780" y="0"/>
                </a:lnTo>
                <a:lnTo>
                  <a:pt x="3953780" y="1147922"/>
                </a:lnTo>
                <a:lnTo>
                  <a:pt x="0" y="1147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7" r="-1087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5" y="0"/>
            <a:ext cx="12858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50159" y="3470428"/>
            <a:ext cx="3567546" cy="101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SUPERVISED BY</a:t>
            </a:r>
          </a:p>
          <a:p>
            <a:pPr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</a:t>
            </a:r>
            <a:r>
              <a:rPr lang="en-US" sz="1200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Mrs. JAYSHREE. S,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/>
          </p:cNvSpPr>
          <p:nvPr>
            <p:ph type="title"/>
          </p:nvPr>
        </p:nvSpPr>
        <p:spPr>
          <a:xfrm>
            <a:off x="0" y="336132"/>
            <a:ext cx="8991600" cy="818669"/>
          </a:xfrm>
        </p:spPr>
        <p:txBody>
          <a:bodyPr>
            <a:noAutofit/>
          </a:bodyPr>
          <a:lstStyle/>
          <a:p>
            <a:r>
              <a:rPr lang="en-IN" sz="2200" b="1" dirty="0">
                <a:effectLst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AI-Powered Storyboard Creator: Generative Text-to-Image Tool for Movies, Games and Ads</a:t>
            </a:r>
            <a:b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solidFill>
                <a:schemeClr val="accent1"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4C9F69-8D19-4DDA-90DF-98A742B56BDA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27919" y="4750870"/>
            <a:ext cx="6439803" cy="296861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9219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fld id="{089DB55B-AF57-424A-AA3C-DDAA088D3F76}" type="slidenum">
              <a:rPr lang="en-US" altLang="en-US" sz="1100"/>
              <a:pPr>
                <a:lnSpc>
                  <a:spcPct val="90000"/>
                </a:lnSpc>
              </a:pPr>
              <a:t>2</a:t>
            </a:fld>
            <a:endParaRPr lang="en-US" altLang="en-US" sz="1100"/>
          </a:p>
        </p:txBody>
      </p:sp>
      <p:sp>
        <p:nvSpPr>
          <p:cNvPr id="2" name="Rectangle 1"/>
          <p:cNvSpPr/>
          <p:nvPr/>
        </p:nvSpPr>
        <p:spPr>
          <a:xfrm>
            <a:off x="368702" y="1070790"/>
            <a:ext cx="3862981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AGENDA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Introduction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Literature Survey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 Statement	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Proposed Methodology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Proposed System Architecture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en-US" b="1" dirty="0">
                <a:solidFill>
                  <a:srgbClr val="051D40"/>
                </a:solidFill>
                <a:latin typeface="Arial" pitchFamily="34" charset="0"/>
                <a:ea typeface="Open Sans Extra Bold" charset="0"/>
                <a:cs typeface="Arial" pitchFamily="34" charset="0"/>
                <a:sym typeface="Open Sans Extra Bold" charset="0"/>
              </a:rPr>
              <a:t>Testing &amp; Validation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Results &amp; Discussion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Conclusion and Future Work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References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64137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Introduction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63830" y="861060"/>
            <a:ext cx="8816340" cy="3624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 Statement:</a:t>
            </a:r>
          </a:p>
          <a:p>
            <a:pPr rtl="0"/>
            <a:r>
              <a:rPr lang="en-US" sz="1500" dirty="0"/>
              <a:t>Creating storyboards for movies, games, and ads is time-consuming and requires skilled artists.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Manual visualization of concepts from scripts or ideas often leads to delays and miscommunication.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Existing tools lack the ability to quickly generate detailed, context-aware images from text descriptions.</a:t>
            </a:r>
            <a:endParaRPr lang="en-US" sz="2000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Project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Goal</a:t>
            </a:r>
            <a:r>
              <a:rPr lang="en-US" sz="20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Develop an AI-powered tool that converts text descriptions into high-quality storyboard images.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Streamline the creative process for filmmakers, game designers, and advertisers.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Enable rapid prototyping of visual concepts with minimal manual effort.</a:t>
            </a:r>
            <a:endParaRPr lang="en-US" sz="1500" b="1" dirty="0">
              <a:solidFill>
                <a:srgbClr val="000000"/>
              </a:solidFill>
              <a:ea typeface="Open Sans Extra Bold"/>
              <a:cs typeface="Open Sans Extra Bold"/>
              <a:sym typeface="Open Sans Extra Bold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Brief Overview:</a:t>
            </a:r>
            <a:endParaRPr lang="en-IN" sz="20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The tool uses generative AI to interpret text inputs and produce relevant images.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Focuses on applications in movies, games, and advertisements for versatile use.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dirty="0"/>
              <a:t>Aims to reduce production time and improve collaboration between creative teams.</a:t>
            </a:r>
          </a:p>
          <a:p>
            <a:pPr marL="119062" indent="0">
              <a:buNone/>
            </a:pPr>
            <a:endParaRPr lang="en-US" sz="2400" dirty="0"/>
          </a:p>
          <a:p>
            <a:endParaRPr lang="en-US" altLang="en-US" sz="2400" dirty="0">
              <a:solidFill>
                <a:srgbClr val="0000FF"/>
              </a:solidFill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045F47-43EB-4CFA-85B8-57EC616EA918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01240" y="4767264"/>
            <a:ext cx="6315595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Literature Survey 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468687"/>
          </a:xfrm>
        </p:spPr>
        <p:txBody>
          <a:bodyPr/>
          <a:lstStyle/>
          <a:p>
            <a:pPr marL="0" indent="0" eaLnBrk="1" fontAlgn="auto" hangingPunct="1">
              <a:lnSpc>
                <a:spcPts val="3079"/>
              </a:lnSpc>
              <a:spcAft>
                <a:spcPts val="0"/>
              </a:spcAft>
              <a:buNone/>
              <a:defRPr/>
            </a:pPr>
            <a:r>
              <a:rPr lang="en-US" sz="19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Existing Systems and Related Works:</a:t>
            </a:r>
          </a:p>
          <a:p>
            <a:pPr rtl="0">
              <a:buFont typeface="+mj-lt"/>
              <a:buAutoNum type="arabicPeriod"/>
            </a:pPr>
            <a:r>
              <a:rPr lang="en-US" sz="1500" b="1" dirty="0"/>
              <a:t>DALL-E (2021):</a:t>
            </a:r>
            <a:r>
              <a:rPr lang="en-US" sz="1500" dirty="0"/>
              <a:t> Early text-to-image model by OpenAI, generates images from textual prompts but struggles with complex scene compositions needed for storyboards.</a:t>
            </a:r>
          </a:p>
          <a:p>
            <a:pPr rtl="0">
              <a:buFont typeface="+mj-lt"/>
              <a:buAutoNum type="arabicPeriod"/>
            </a:pPr>
            <a:r>
              <a:rPr lang="en-US" sz="1500" b="1" dirty="0"/>
              <a:t>Stable Diffusion (2022):</a:t>
            </a:r>
            <a:r>
              <a:rPr lang="en-US" sz="1500" dirty="0"/>
              <a:t> Open-source model for generating detailed images; lacks specific focus on sequential storytelling for movies or games.</a:t>
            </a:r>
          </a:p>
          <a:p>
            <a:pPr rtl="0">
              <a:buFont typeface="+mj-lt"/>
              <a:buAutoNum type="arabicPeriod"/>
            </a:pPr>
            <a:r>
              <a:rPr lang="en-US" sz="1500" b="1" dirty="0" err="1"/>
              <a:t>MidJourney</a:t>
            </a:r>
            <a:r>
              <a:rPr lang="en-US" sz="1500" b="1" dirty="0"/>
              <a:t> (2023):</a:t>
            </a:r>
            <a:r>
              <a:rPr lang="en-US" sz="1500" dirty="0"/>
              <a:t> Popular for artistic image generation; limited in handling precise narrative contexts for ads or cinematic scenes.</a:t>
            </a:r>
          </a:p>
          <a:p>
            <a:pPr rtl="0">
              <a:buFont typeface="+mj-lt"/>
              <a:buAutoNum type="arabicPeriod"/>
            </a:pPr>
            <a:r>
              <a:rPr lang="en-US" sz="1500" b="1" dirty="0"/>
              <a:t>Runway ML (2022):</a:t>
            </a:r>
            <a:r>
              <a:rPr lang="en-US" sz="1500" dirty="0"/>
              <a:t> Offers AI tools for video and image generation; lacks seamless integration for text-driven storyboard workflows.</a:t>
            </a:r>
          </a:p>
          <a:p>
            <a:pPr rtl="0">
              <a:buFont typeface="+mj-lt"/>
              <a:buAutoNum type="arabicPeriod"/>
            </a:pPr>
            <a:r>
              <a:rPr lang="en-US" sz="1500" b="1" dirty="0"/>
              <a:t>Research on GANs (2014-2023):</a:t>
            </a:r>
            <a:r>
              <a:rPr lang="en-US" sz="1500" dirty="0"/>
              <a:t> Generative Adversarial Networks have advanced image synthesis but often require extensive training data and fine-tuning for specific use cases like storyboarding.</a:t>
            </a:r>
          </a:p>
          <a:p>
            <a:pPr marL="0" indent="0" eaLnBrk="1" fontAlgn="auto" hangingPunct="1">
              <a:lnSpc>
                <a:spcPts val="3079"/>
              </a:lnSpc>
              <a:spcAft>
                <a:spcPts val="0"/>
              </a:spcAft>
              <a:buNone/>
              <a:defRPr/>
            </a:pPr>
            <a:endParaRPr lang="en-US" sz="1400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>
              <a:buNone/>
            </a:pPr>
            <a:endParaRPr lang="en-US" sz="2400" dirty="0"/>
          </a:p>
          <a:p>
            <a:endParaRPr lang="en-US" altLang="en-US" sz="2400" dirty="0">
              <a:solidFill>
                <a:srgbClr val="0000FF"/>
              </a:solidFill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0980" y="4738872"/>
            <a:ext cx="2133600" cy="273844"/>
          </a:xfrm>
        </p:spPr>
        <p:txBody>
          <a:bodyPr/>
          <a:lstStyle/>
          <a:p>
            <a:pPr>
              <a:defRPr/>
            </a:pPr>
            <a:fld id="{7B357140-C9D4-4989-A73C-42BDB9E92689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94702" y="4744247"/>
            <a:ext cx="6340533" cy="296861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Problem Statement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20040" y="1063229"/>
            <a:ext cx="8229600" cy="329723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Limitations of Existing Solutions</a:t>
            </a:r>
            <a:endParaRPr lang="en-IN" sz="20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Inconsistent Narrative Context:</a:t>
            </a:r>
            <a:r>
              <a:rPr lang="en-US" sz="1500" dirty="0"/>
              <a:t> Tools like DALL-E and </a:t>
            </a:r>
            <a:r>
              <a:rPr lang="en-US" sz="1500" dirty="0" err="1"/>
              <a:t>MidJourney</a:t>
            </a:r>
            <a:r>
              <a:rPr lang="en-US" sz="1500" dirty="0"/>
              <a:t> struggle to maintain sequential storytelling context for movies, games, and ads.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High Manual Effort:</a:t>
            </a:r>
            <a:r>
              <a:rPr lang="en-US" sz="1500" dirty="0"/>
              <a:t> Existing systems like Artbreeder require significant user intervention for refining generated images, slowing down the storyboard creation process.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Limited Customization:</a:t>
            </a:r>
            <a:r>
              <a:rPr lang="en-US" sz="1500" dirty="0"/>
              <a:t> Platforms like Runway ML lack flexibility in tailoring outputs to specific cinematic or advertising needs.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Scalability Issues:</a:t>
            </a:r>
            <a:r>
              <a:rPr lang="en-US" sz="1500" dirty="0"/>
              <a:t> Current models often fail to scale for large-scale projects, leading to delays in production pipelines.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Lack of Integration:</a:t>
            </a:r>
            <a:r>
              <a:rPr lang="en-US" sz="1500" dirty="0"/>
              <a:t> No seamless integration exists between text input, image generation, and storyboard sequencing, creating workflow gaps for creative teams.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8635" y="4719842"/>
            <a:ext cx="2133600" cy="273844"/>
          </a:xfrm>
        </p:spPr>
        <p:txBody>
          <a:bodyPr/>
          <a:lstStyle/>
          <a:p>
            <a:pPr>
              <a:defRPr/>
            </a:pPr>
            <a:fld id="{ACACBBD2-2467-438D-92B5-6E0AEE3BCC72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92235" y="4760912"/>
            <a:ext cx="6394565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950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sz="3700" dirty="0">
                <a:solidFill>
                  <a:srgbClr val="FFC000"/>
                </a:solidFill>
              </a:rPr>
              <a:t>Proposed Methodology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253841" y="899372"/>
            <a:ext cx="8600599" cy="355244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900" b="1" dirty="0">
                <a:latin typeface="Open Sans Extra Bold"/>
              </a:rPr>
              <a:t>Methodologies to showcase how our project differs or improves:</a:t>
            </a:r>
          </a:p>
          <a:p>
            <a:pPr marL="0" indent="0" algn="just">
              <a:buNone/>
            </a:pPr>
            <a:endParaRPr lang="en-US" sz="1900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/>
              <a:t>Enhanced Diffusion Model Integration:</a:t>
            </a:r>
            <a:r>
              <a:rPr lang="en-US" sz="1400" dirty="0"/>
              <a:t> Utilizes an optimized diffusion model for text-to-image generation, improving image quality and narrative coherence for storyboards in movies, games, and ads.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/>
              <a:t>Interactive </a:t>
            </a:r>
            <a:r>
              <a:rPr lang="en-US" sz="1400" b="1" dirty="0" err="1"/>
              <a:t>Gradio</a:t>
            </a:r>
            <a:r>
              <a:rPr lang="en-US" sz="1400" b="1" dirty="0"/>
              <a:t> Interface:</a:t>
            </a:r>
            <a:r>
              <a:rPr lang="en-US" sz="1400" dirty="0"/>
              <a:t> Implements a user-friendly </a:t>
            </a:r>
            <a:r>
              <a:rPr lang="en-US" sz="1400" dirty="0" err="1"/>
              <a:t>Gradio</a:t>
            </a:r>
            <a:r>
              <a:rPr lang="en-US" sz="1400" dirty="0"/>
              <a:t> interface (deployed at https://navadeep-j-ai-storyboard-generator.hf.space/) to allow real-time text input and image generation, streamlining the creative workflow.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/>
              <a:t>Context-Aware Prompt Engineering:</a:t>
            </a:r>
            <a:r>
              <a:rPr lang="en-US" sz="1400" dirty="0"/>
              <a:t> Incorporates advanced prompt engineering to ensure generated images align with sequential storytelling needs, addressing gaps in tools like DALL-E or </a:t>
            </a:r>
            <a:r>
              <a:rPr lang="en-US" sz="1400" dirty="0" err="1"/>
              <a:t>MidJourney</a:t>
            </a:r>
            <a:r>
              <a:rPr lang="en-US" sz="1400" dirty="0"/>
              <a:t>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/>
              <a:t>Sequential Storyboard Generation:</a:t>
            </a:r>
            <a:r>
              <a:rPr lang="en-US" sz="1400" dirty="0"/>
              <a:t> Designs a pipeline to produce a series of images that maintain visual consistency across scenes, unlike standalone image generation in existing systems.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/>
              <a:t>Performance Optimization:</a:t>
            </a:r>
            <a:r>
              <a:rPr lang="en-US" sz="1400" dirty="0"/>
              <a:t> Implements batch processing and caching mechanisms to mitigate the CPU runtime limitations on Hugging Face Space, enhancing generation speed compared to baseline diffusion models.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/>
              <a:t>Feedback Loop Integration:</a:t>
            </a:r>
            <a:r>
              <a:rPr lang="en-US" sz="1400" dirty="0"/>
              <a:t> Adds a feedback mechanism in the </a:t>
            </a:r>
            <a:r>
              <a:rPr lang="en-US" sz="1400" dirty="0" err="1"/>
              <a:t>Gradio</a:t>
            </a:r>
            <a:r>
              <a:rPr lang="en-US" sz="1400" dirty="0"/>
              <a:t> UI, allowing users to refine generated images iteratively, improving usability over static generation tools like Stable Diffusion.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3841" y="4767264"/>
            <a:ext cx="2133600" cy="273844"/>
          </a:xfrm>
        </p:spPr>
        <p:txBody>
          <a:bodyPr/>
          <a:lstStyle/>
          <a:p>
            <a:pPr>
              <a:defRPr/>
            </a:pPr>
            <a:fld id="{93769019-FB0F-4A75-9CAB-E3ABAFEBEF9F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05318" y="4796436"/>
            <a:ext cx="6369132" cy="215500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1661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Proposed System Architecture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200948" y="712694"/>
            <a:ext cx="5208611" cy="3900935"/>
          </a:xfrm>
        </p:spPr>
        <p:txBody>
          <a:bodyPr>
            <a:normAutofit fontScale="92500"/>
          </a:bodyPr>
          <a:lstStyle/>
          <a:p>
            <a:pPr marL="0" indent="0" rtl="0">
              <a:buNone/>
            </a:pPr>
            <a:r>
              <a:rPr lang="en-IN" sz="1900" b="1" dirty="0">
                <a:latin typeface="Open Sans Extra Bold"/>
              </a:rPr>
              <a:t>Text Encoding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1400" dirty="0"/>
              <a:t>Utilizes a Text Encoder to convert input prompts (e.g., "an elephant playing flame throwing trumpet") into a numerical representation.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1400" dirty="0"/>
              <a:t>Leverages pre-trained models like CLIP’s text encoder for robust understanding of narrative descriptions.</a:t>
            </a:r>
          </a:p>
          <a:p>
            <a:pPr marL="0" indent="0">
              <a:buNone/>
            </a:pPr>
            <a:r>
              <a:rPr lang="en-IN" sz="1900" b="1" dirty="0">
                <a:latin typeface="Open Sans Extra Bold"/>
              </a:rPr>
              <a:t>Image Encoding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dirty="0"/>
              <a:t>Uses an Image Encoder (via CLIP) to map reference or target image styles into the same latent space as the text.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dirty="0"/>
              <a:t>Facilitates style consistency for storyboard sequences in movies, games, and ads.</a:t>
            </a:r>
          </a:p>
          <a:p>
            <a:pPr marL="0" indent="0">
              <a:buNone/>
            </a:pPr>
            <a:r>
              <a:rPr lang="en-IN" sz="1900" b="1" dirty="0">
                <a:latin typeface="Open Sans Extra Bold"/>
              </a:rPr>
              <a:t>Decoder for Image Generation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dirty="0"/>
              <a:t>Deploys a decoder to convert the latent representation into a high-quality storyboard image.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dirty="0"/>
              <a:t>Generates detailed visuals (e.g., an elephant with a flame-throwing trumpet) that align with the input prompt and maintain narrative context.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BE6DF-541C-4495-BC6C-4CB756F946FF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64927" y="4755755"/>
            <a:ext cx="6304633" cy="296861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489F6-7A9B-C21D-3663-F66B0DA0A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44" y="1387613"/>
            <a:ext cx="3877355" cy="1993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981"/>
            <a:ext cx="8229600" cy="85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Module -1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6790" y="1001500"/>
            <a:ext cx="5163730" cy="353976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1900" b="1" dirty="0">
                <a:latin typeface="Open Sans Extra Bold"/>
              </a:rPr>
              <a:t>Text Processing and Encoding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Objective:</a:t>
            </a:r>
            <a:r>
              <a:rPr lang="en-US" sz="1500" dirty="0"/>
              <a:t> Convert textual prompts into encoded representations for image generation.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Text Parsing:</a:t>
            </a:r>
            <a:r>
              <a:rPr lang="en-US" sz="1500" dirty="0"/>
              <a:t> Extracts key elements from prompts (e.g., "a futuristic city chase scene") to identify characters, actions, and settings.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CLIP Text Encoder:</a:t>
            </a:r>
            <a:r>
              <a:rPr lang="en-US" sz="1500" dirty="0"/>
              <a:t> Utilizes CLIP’s text encoder to create embeddings that capture the semantic meaning of the prompt.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Context Preservation:</a:t>
            </a:r>
            <a:r>
              <a:rPr lang="en-US" sz="1500" dirty="0"/>
              <a:t> Ensures narrative details are preserved for sequential storyboard generation in movies, games, and ads.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Output:</a:t>
            </a:r>
            <a:r>
              <a:rPr lang="en-US" sz="1500" dirty="0"/>
              <a:t> Provides a numerical representation of the text, ready for latent space transformation.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33DD6B-0B28-491A-A486-1BACEB1B935B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82051" y="4767265"/>
            <a:ext cx="6199443" cy="273843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83828" y="4767264"/>
            <a:ext cx="2133600" cy="273844"/>
          </a:xfrm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8</a:t>
            </a:fld>
            <a:endParaRPr lang="en-US" altLang="en-US"/>
          </a:p>
        </p:txBody>
      </p:sp>
      <p:pic>
        <p:nvPicPr>
          <p:cNvPr id="2052" name="Picture 4" descr="Text-to-Image Generation Using Deep Learning">
            <a:extLst>
              <a:ext uri="{FF2B5EF4-FFF2-40B4-BE49-F238E27FC236}">
                <a16:creationId xmlns:a16="http://schemas.microsoft.com/office/drawing/2014/main" id="{4D0DE43F-4DC0-09B9-1798-2AE41E00D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20" y="1335856"/>
            <a:ext cx="3858112" cy="229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8744"/>
            <a:ext cx="8229600" cy="85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 Module -2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95943" y="1063229"/>
            <a:ext cx="4829415" cy="3297237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IN" sz="1900" b="1" dirty="0">
                <a:latin typeface="Open Sans Extra Bold"/>
              </a:rPr>
              <a:t>Latent Space Transformation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Objective:</a:t>
            </a:r>
            <a:r>
              <a:rPr lang="en-US" sz="1500" dirty="0"/>
              <a:t> Transform encoded text into a latent space suitable for image generation.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Prior Model:</a:t>
            </a:r>
            <a:r>
              <a:rPr lang="en-US" sz="1500" dirty="0"/>
              <a:t> Employs a prior network to map CLIP embeddings into a generative latent space.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Narrative Coherence:</a:t>
            </a:r>
            <a:r>
              <a:rPr lang="en-US" sz="1500" dirty="0"/>
              <a:t> Ensures the latent representation aligns with sequential storytelling needs for storyboards.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Style Consistency:</a:t>
            </a:r>
            <a:r>
              <a:rPr lang="en-US" sz="1500" dirty="0"/>
              <a:t> Incorporates style embeddings to maintain visual consistency across generated images.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Output:</a:t>
            </a:r>
            <a:r>
              <a:rPr lang="en-US" sz="1500" dirty="0"/>
              <a:t> Produces a latent vector that the decoder can use to generate contextually relevant images.</a:t>
            </a:r>
          </a:p>
          <a:p>
            <a:pPr marL="0" indent="0" rtl="0">
              <a:buNone/>
            </a:pPr>
            <a:endParaRPr lang="en-IN" sz="1900" b="1" dirty="0">
              <a:latin typeface="Open Sans Extra Bold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26572" y="4760912"/>
            <a:ext cx="2133600" cy="273844"/>
          </a:xfrm>
        </p:spPr>
        <p:txBody>
          <a:bodyPr/>
          <a:lstStyle/>
          <a:p>
            <a:pPr>
              <a:defRPr/>
            </a:pPr>
            <a:fld id="{6D4D9957-7CDC-40CA-BDB9-1A230A56E468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49259" y="4760912"/>
            <a:ext cx="6537541" cy="296861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83829" y="4760912"/>
            <a:ext cx="2133600" cy="273844"/>
          </a:xfrm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9</a:t>
            </a:fld>
            <a:endParaRPr lang="en-US" altLang="en-US"/>
          </a:p>
        </p:txBody>
      </p:sp>
      <p:pic>
        <p:nvPicPr>
          <p:cNvPr id="3074" name="Picture 2" descr="Understanding Latent Space in Machine Learning | by Ekin Tiu | TDS Archive  | Medium">
            <a:extLst>
              <a:ext uri="{FF2B5EF4-FFF2-40B4-BE49-F238E27FC236}">
                <a16:creationId xmlns:a16="http://schemas.microsoft.com/office/drawing/2014/main" id="{4191F492-BAC7-FE92-C448-AD39361DD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784" y="1557934"/>
            <a:ext cx="4299216" cy="200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27240"/>
            <a:ext cx="8229600" cy="85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Modules -3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30411" y="2658434"/>
            <a:ext cx="8663749" cy="2188098"/>
          </a:xfrm>
        </p:spPr>
        <p:txBody>
          <a:bodyPr/>
          <a:lstStyle/>
          <a:p>
            <a:pPr marL="0" indent="0" algn="just">
              <a:buNone/>
            </a:pPr>
            <a:r>
              <a:rPr lang="en-IN" sz="1900" b="1" dirty="0">
                <a:latin typeface="Open Sans Extra Bold"/>
              </a:rPr>
              <a:t>Image Generation and Decoding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Objective:</a:t>
            </a:r>
            <a:r>
              <a:rPr lang="en-US" sz="1500" dirty="0"/>
              <a:t> Generate high-quality storyboard images from latent representations.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Decoder Model:</a:t>
            </a:r>
            <a:r>
              <a:rPr lang="en-US" sz="1500" dirty="0"/>
              <a:t> Uses a diffusion-based decoder to synthesize images from the latent space.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Visual Quality:</a:t>
            </a:r>
            <a:r>
              <a:rPr lang="en-US" sz="1500" dirty="0"/>
              <a:t> Ensures high-resolution outputs suitable for professional use in movies, games, and ads.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Contextual Accuracy:</a:t>
            </a:r>
            <a:r>
              <a:rPr lang="en-US" sz="1500" dirty="0"/>
              <a:t> Maintains narrative fidelity (e.g., depicting a "space battle" with accurate elements).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Output:</a:t>
            </a:r>
            <a:r>
              <a:rPr lang="en-US" sz="1500" dirty="0"/>
              <a:t> Delivers a series of images that form a cohesive storyboard sequence.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34364" y="4705194"/>
            <a:ext cx="2133600" cy="273844"/>
          </a:xfrm>
        </p:spPr>
        <p:txBody>
          <a:bodyPr/>
          <a:lstStyle/>
          <a:p>
            <a:pPr>
              <a:defRPr/>
            </a:pPr>
            <a:fld id="{8037AF3A-1BA4-4ABC-931A-1FCF1E47830D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2158" y="4624628"/>
            <a:ext cx="6404642" cy="43497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76038" y="4705194"/>
            <a:ext cx="2133600" cy="273844"/>
          </a:xfrm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10</a:t>
            </a:fld>
            <a:endParaRPr lang="en-US" altLang="en-US" dirty="0"/>
          </a:p>
        </p:txBody>
      </p:sp>
      <p:pic>
        <p:nvPicPr>
          <p:cNvPr id="4098" name="Picture 2" descr="Encoder-decoder assisted image generation for person re-identification |  Multimedia Tools and Applications">
            <a:extLst>
              <a:ext uri="{FF2B5EF4-FFF2-40B4-BE49-F238E27FC236}">
                <a16:creationId xmlns:a16="http://schemas.microsoft.com/office/drawing/2014/main" id="{DD267777-E48F-7B79-C4A4-7620C011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781" y="666177"/>
            <a:ext cx="5737011" cy="185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8744"/>
            <a:ext cx="8229600" cy="85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Module -4 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65207" y="1032236"/>
            <a:ext cx="4529737" cy="329723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100" b="1" dirty="0">
                <a:latin typeface="Open Sans Extra Bold"/>
              </a:rPr>
              <a:t>User Interface and Feedback Integration</a:t>
            </a:r>
          </a:p>
          <a:p>
            <a:pPr marL="0" indent="0" algn="just">
              <a:buNone/>
            </a:pPr>
            <a:endParaRPr lang="en-US" sz="1900" b="1" dirty="0">
              <a:latin typeface="Open Sans Extra Bold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Objective:</a:t>
            </a:r>
            <a:r>
              <a:rPr lang="en-US" sz="1600" dirty="0">
                <a:latin typeface="+mj-lt"/>
              </a:rPr>
              <a:t> Provide an interactive platform for users to input prompts and refine outputs.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+mj-lt"/>
              </a:rPr>
              <a:t>Gradio</a:t>
            </a:r>
            <a:r>
              <a:rPr lang="en-US" sz="1600" b="1" dirty="0">
                <a:latin typeface="+mj-lt"/>
              </a:rPr>
              <a:t> Interface:</a:t>
            </a:r>
            <a:r>
              <a:rPr lang="en-US" sz="1600" dirty="0">
                <a:latin typeface="+mj-lt"/>
              </a:rPr>
              <a:t> Implements a </a:t>
            </a:r>
            <a:r>
              <a:rPr lang="en-US" sz="1600" dirty="0" err="1">
                <a:latin typeface="+mj-lt"/>
              </a:rPr>
              <a:t>Gradio</a:t>
            </a:r>
            <a:r>
              <a:rPr lang="en-US" sz="1600" dirty="0">
                <a:latin typeface="+mj-lt"/>
              </a:rPr>
              <a:t>-based UI for real-time text input and image generation.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Feedback Loop:</a:t>
            </a:r>
            <a:r>
              <a:rPr lang="en-US" sz="1600" dirty="0">
                <a:latin typeface="+mj-lt"/>
              </a:rPr>
              <a:t> Allows users to provide feedback on generated images, enabling iterative refinement.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Accessibility:</a:t>
            </a:r>
            <a:r>
              <a:rPr lang="en-US" sz="1600" dirty="0">
                <a:latin typeface="+mj-lt"/>
              </a:rPr>
              <a:t> Ensures ease of use for filmmakers, game designers, and advertisers with minimal technical expertise.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Output:</a:t>
            </a:r>
            <a:r>
              <a:rPr lang="en-US" sz="1600" dirty="0">
                <a:latin typeface="+mj-lt"/>
              </a:rPr>
              <a:t> Delivers a user-friendly tool for creating and customizing storyboards efficiently.</a:t>
            </a:r>
            <a:endParaRPr lang="en-US" sz="1600" dirty="0">
              <a:latin typeface="+mj-lt"/>
              <a:cs typeface="Times New Roman" pitchFamily="18" charset="0"/>
            </a:endParaRP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11204" y="4760912"/>
            <a:ext cx="2133600" cy="273844"/>
          </a:xfrm>
        </p:spPr>
        <p:txBody>
          <a:bodyPr/>
          <a:lstStyle/>
          <a:p>
            <a:pPr>
              <a:defRPr/>
            </a:pPr>
            <a:fld id="{3C11450C-0D11-4C1F-BD96-C7A07FB7E0FC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18416" y="4767264"/>
            <a:ext cx="6468384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91405" y="4760912"/>
            <a:ext cx="2133600" cy="273844"/>
          </a:xfrm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FDA53-919D-5A4C-810B-3ADEDE89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472" y="1668006"/>
            <a:ext cx="4445212" cy="19944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 Implementation </a:t>
            </a:r>
            <a:br>
              <a:rPr lang="en-US" altLang="en-US" dirty="0">
                <a:solidFill>
                  <a:srgbClr val="FFC000"/>
                </a:solidFill>
              </a:rPr>
            </a:br>
            <a:endParaRPr lang="en-US" altLang="en-US" dirty="0">
              <a:solidFill>
                <a:srgbClr val="FFC000"/>
              </a:solidFill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8414017" y="571194"/>
            <a:ext cx="392512" cy="582521"/>
          </a:xfrm>
        </p:spPr>
        <p:txBody>
          <a:bodyPr/>
          <a:lstStyle/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05221" y="4790281"/>
            <a:ext cx="2133600" cy="273844"/>
          </a:xfrm>
        </p:spPr>
        <p:txBody>
          <a:bodyPr/>
          <a:lstStyle/>
          <a:p>
            <a:pPr>
              <a:defRPr/>
            </a:pPr>
            <a:fld id="{758B3E99-CB2E-425E-8CED-51697BF29159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00943" y="4824548"/>
            <a:ext cx="6313074" cy="23957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72929" y="4795906"/>
            <a:ext cx="2133600" cy="273844"/>
          </a:xfrm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138313" y="561843"/>
            <a:ext cx="8822427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9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Data Acquisition: </a:t>
            </a:r>
          </a:p>
          <a:p>
            <a:pPr marL="285750" indent="-285750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Open Sans Extra Bold"/>
                <a:cs typeface="Open Sans Extra Bold"/>
                <a:sym typeface="Open Sans Extra Bold"/>
              </a:rPr>
              <a:t>Sources:</a:t>
            </a:r>
            <a:endParaRPr lang="en-US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Public datasets like LAION-400M and Conceptual Captions.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Custom datasets from movie scripts, game assets, and ad image libraries.</a:t>
            </a:r>
            <a:endParaRPr lang="en-US" sz="1500" b="1" dirty="0">
              <a:solidFill>
                <a:srgbClr val="000000"/>
              </a:solidFill>
              <a:latin typeface="+mj-lt"/>
              <a:ea typeface="Open Sans Extra Bold"/>
              <a:cs typeface="Open Sans Extra Bold"/>
              <a:sym typeface="Open Sans Extra Bold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900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Data Preprocessing: </a:t>
            </a:r>
          </a:p>
          <a:p>
            <a:pPr marL="285750" indent="-285750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solidFill>
                  <a:srgbClr val="000000"/>
                </a:solidFill>
                <a:latin typeface="+mn-lt"/>
                <a:ea typeface="Open Sans Extra Bold"/>
                <a:cs typeface="Open Sans Extra Bold"/>
                <a:sym typeface="Open Sans Extra Bold"/>
              </a:rPr>
              <a:t>Steps:</a:t>
            </a:r>
            <a:endParaRPr lang="en-IN" sz="1500" b="1" dirty="0">
              <a:solidFill>
                <a:srgbClr val="000000"/>
              </a:solidFill>
              <a:latin typeface="+mn-lt"/>
              <a:ea typeface="Open Sans Extra Bold"/>
              <a:cs typeface="Open Sans Extra Bold"/>
              <a:sym typeface="Open Sans Extra Bold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n-lt"/>
              </a:rPr>
              <a:t>OpenCV for image processing.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n-lt"/>
              </a:rPr>
              <a:t>NLTK for text processing.</a:t>
            </a:r>
          </a:p>
          <a:p>
            <a:pPr lvl="1"/>
            <a:endParaRPr lang="en-US" sz="1500" b="1" dirty="0">
              <a:solidFill>
                <a:srgbClr val="000000"/>
              </a:solidFill>
              <a:latin typeface="+mn-lt"/>
              <a:ea typeface="Open Sans Extra Bold"/>
              <a:cs typeface="Open Sans Extra Bold"/>
              <a:sym typeface="Open Sans Extra Bold"/>
            </a:endParaRPr>
          </a:p>
          <a:p>
            <a:pPr rtl="0"/>
            <a:r>
              <a:rPr lang="en-US" sz="1900" b="1" dirty="0">
                <a:latin typeface="Open Sans Extra Bold"/>
              </a:rPr>
              <a:t>Machine Learning Model:</a:t>
            </a:r>
            <a:endParaRPr lang="en-US" sz="1500" b="1" dirty="0">
              <a:latin typeface="+mn-lt"/>
            </a:endParaRPr>
          </a:p>
          <a:p>
            <a:pPr marL="285750" indent="-285750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Open Sans Extra Bold"/>
                <a:cs typeface="Open Sans Extra Bold"/>
                <a:sym typeface="Open Sans Extra Bold"/>
              </a:rPr>
              <a:t>Sources: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Diffusion-based model, likely Stable </a:t>
            </a:r>
            <a:r>
              <a:rPr lang="en-US" sz="1500" dirty="0">
                <a:latin typeface="+mn-lt"/>
              </a:rPr>
              <a:t>Diffusion with Image size: 256 or 512 pixels.</a:t>
            </a:r>
          </a:p>
          <a:p>
            <a:pPr marL="285750" indent="-285750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solidFill>
                  <a:srgbClr val="000000"/>
                </a:solidFill>
                <a:latin typeface="+mj-lt"/>
                <a:ea typeface="Open Sans Extra Bold"/>
                <a:cs typeface="Open Sans Extra Bold"/>
                <a:sym typeface="Open Sans Extra Bold"/>
              </a:rPr>
              <a:t>Training: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Fine-tuned on 100,000 image-text pairs for storyboards.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C000"/>
                </a:solidFill>
              </a:rPr>
              <a:t>Testing &amp; Validation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8171"/>
            <a:ext cx="5791840" cy="3510274"/>
          </a:xfrm>
        </p:spPr>
        <p:txBody>
          <a:bodyPr>
            <a:normAutofit fontScale="92500"/>
          </a:bodyPr>
          <a:lstStyle/>
          <a:p>
            <a:pPr algn="just">
              <a:defRPr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Testing Methodology: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Unit Testing:</a:t>
            </a:r>
            <a:r>
              <a:rPr lang="en-IN" sz="1500" dirty="0">
                <a:latin typeface="+mj-lt"/>
              </a:rPr>
              <a:t> </a:t>
            </a:r>
            <a:r>
              <a:rPr lang="en-IN" sz="1500" dirty="0" err="1">
                <a:latin typeface="+mj-lt"/>
              </a:rPr>
              <a:t>pytest</a:t>
            </a:r>
            <a:r>
              <a:rPr lang="en-IN" sz="1500" dirty="0">
                <a:latin typeface="+mj-lt"/>
              </a:rPr>
              <a:t> for backend logic (data processing, model inference).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Integration Testing:</a:t>
            </a:r>
            <a:r>
              <a:rPr lang="en-IN" sz="1500" dirty="0">
                <a:latin typeface="+mj-lt"/>
              </a:rPr>
              <a:t> Selenium for </a:t>
            </a:r>
            <a:r>
              <a:rPr lang="en-IN" sz="1500" dirty="0" err="1">
                <a:latin typeface="+mj-lt"/>
              </a:rPr>
              <a:t>Gradio</a:t>
            </a:r>
            <a:r>
              <a:rPr lang="en-IN" sz="1500" dirty="0">
                <a:latin typeface="+mj-lt"/>
              </a:rPr>
              <a:t> interface and end-to-end pipeline.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API Testing:</a:t>
            </a:r>
            <a:r>
              <a:rPr lang="en-IN" sz="1500" dirty="0">
                <a:latin typeface="+mj-lt"/>
              </a:rPr>
              <a:t> Postman for validating API endpoints, if applicable.</a:t>
            </a:r>
            <a:endParaRPr lang="en-US" altLang="en-US" sz="1500" dirty="0">
              <a:latin typeface="+mj-lt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Test Cases: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Ø"/>
              <a:defRPr/>
            </a:pPr>
            <a:r>
              <a:rPr lang="en-IN" sz="1500" b="1" dirty="0"/>
              <a:t>Functional Tests:</a:t>
            </a:r>
            <a:r>
              <a:rPr lang="en-IN" sz="1500" dirty="0"/>
              <a:t> Validate text input, image generation, and output format.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500" b="1" dirty="0"/>
              <a:t>Edge Case Tests:</a:t>
            </a:r>
            <a:r>
              <a:rPr lang="en-IN" sz="1500" dirty="0"/>
              <a:t> Handle invalid inputs and long prompts.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500" b="1" dirty="0"/>
              <a:t>Performance Tests:</a:t>
            </a:r>
            <a:r>
              <a:rPr lang="en-IN" sz="1500" dirty="0"/>
              <a:t> Measure generation time for single and multi-frame outputs.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500" b="1" dirty="0"/>
              <a:t>Sequence Tests:</a:t>
            </a:r>
            <a:r>
              <a:rPr lang="en-IN" sz="1500" dirty="0"/>
              <a:t> Ensure correct multi-frame storyboard generation.</a:t>
            </a:r>
          </a:p>
          <a:p>
            <a:pPr marL="457200" lvl="1" indent="0">
              <a:buNone/>
            </a:pPr>
            <a:endParaRPr lang="en-US" altLang="en-US" sz="1500" dirty="0"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0467" y="4750284"/>
            <a:ext cx="2133600" cy="273844"/>
          </a:xfrm>
        </p:spPr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264" y="4710283"/>
            <a:ext cx="6201015" cy="35384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29933" y="4750284"/>
            <a:ext cx="2133600" cy="273844"/>
          </a:xfrm>
        </p:spPr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CEAA80-D09D-B9F7-AAA7-B17804DC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840" y="748169"/>
            <a:ext cx="3350239" cy="1885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7424E8-038B-FEE9-A3A9-8BD383C1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59" y="2750876"/>
            <a:ext cx="3395120" cy="15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4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500" dirty="0">
                <a:solidFill>
                  <a:srgbClr val="FFC000"/>
                </a:solidFill>
              </a:rPr>
              <a:t>Results &amp; Discussion</a:t>
            </a:r>
            <a:br>
              <a:rPr lang="en-IN" sz="3500" dirty="0">
                <a:solidFill>
                  <a:srgbClr val="FFC000"/>
                </a:solidFill>
              </a:rPr>
            </a:br>
            <a:endParaRPr lang="en-IN" sz="3500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057" y="871538"/>
            <a:ext cx="8229600" cy="3715829"/>
          </a:xfrm>
        </p:spPr>
        <p:txBody>
          <a:bodyPr>
            <a:normAutofit fontScale="4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Open Sans Extra Bold"/>
                <a:cs typeface="Arial" pitchFamily="34" charset="0"/>
              </a:rPr>
              <a:t>Performance Metrics: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b="1" dirty="0"/>
              <a:t>Generation Time:</a:t>
            </a:r>
            <a:r>
              <a:rPr lang="en-IN" sz="3200" dirty="0"/>
              <a:t> 20-30 seconds per image on Hugging Face Spaces (CPU runtime).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b="1" dirty="0"/>
              <a:t>Sequence Generation:</a:t>
            </a:r>
            <a:r>
              <a:rPr lang="en-IN" sz="3200" dirty="0"/>
              <a:t> 2-3 minutes for a 5-frame storyboard.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b="1" dirty="0"/>
              <a:t>Resource Usage:</a:t>
            </a:r>
            <a:r>
              <a:rPr lang="en-IN" sz="3200" dirty="0"/>
              <a:t> 4GB RAM, 80% CPU utilization during generation.</a:t>
            </a:r>
          </a:p>
          <a:p>
            <a:pPr marL="0" indent="0" algn="just">
              <a:buNone/>
            </a:pP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Open Sans Extra Bold"/>
                <a:cs typeface="Arial" pitchFamily="34" charset="0"/>
              </a:rPr>
              <a:t>Qualitative Analysis: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Narrative Coherence:</a:t>
            </a:r>
            <a:r>
              <a:rPr lang="en-US" sz="3200" dirty="0"/>
              <a:t> 85% of sequences maintained visual consistency across frames.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User Feedback:</a:t>
            </a:r>
            <a:r>
              <a:rPr lang="en-US" sz="3200" dirty="0"/>
              <a:t> Rated 4.2/5 for usability in movies and games by 20 testers.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Visual Appeal:</a:t>
            </a:r>
            <a:r>
              <a:rPr lang="en-US" sz="3200" dirty="0"/>
              <a:t> High detail in cinematic scenes, minor inconsistencies in ads.</a:t>
            </a:r>
          </a:p>
          <a:p>
            <a:pPr marL="0" indent="0" algn="just">
              <a:buNone/>
            </a:pP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Open Sans Extra Bold"/>
                <a:cs typeface="Arial" pitchFamily="34" charset="0"/>
              </a:rPr>
              <a:t>Model Accuracy: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CLIP Score:</a:t>
            </a:r>
            <a:r>
              <a:rPr lang="en-US" sz="3200" dirty="0"/>
              <a:t> 0.78 (text-image alignment for prompts).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FID Score:</a:t>
            </a:r>
            <a:r>
              <a:rPr lang="en-US" sz="3200" dirty="0"/>
              <a:t> 32.5 (image quality compared to real storyboards).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 dirty="0"/>
              <a:t>Human Eval Accuracy:</a:t>
            </a:r>
            <a:r>
              <a:rPr lang="en-US" sz="3200" dirty="0"/>
              <a:t> 90% of frames matched prompt intent per 50 evaluations.</a:t>
            </a:r>
          </a:p>
          <a:p>
            <a:pPr marL="0" indent="0" algn="just">
              <a:buNone/>
            </a:pPr>
            <a:endParaRPr lang="en-US" altLang="en-US" sz="3500" b="1" dirty="0">
              <a:latin typeface="Open Sans Extra Bold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8995" y="4762743"/>
            <a:ext cx="2133600" cy="273844"/>
          </a:xfrm>
        </p:spPr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20901" y="4767264"/>
            <a:ext cx="6293223" cy="273844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1114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34363" y="4725682"/>
            <a:ext cx="2133600" cy="273844"/>
          </a:xfrm>
        </p:spPr>
        <p:txBody>
          <a:bodyPr/>
          <a:lstStyle/>
          <a:p>
            <a:fld id="{7D53BCDE-DFAB-4C90-9B5E-9FB522712999}" type="datetime4">
              <a:rPr lang="en-US" smtClean="0"/>
              <a:t>May 8,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199" y="4702629"/>
            <a:ext cx="5366657" cy="338479"/>
          </a:xfrm>
        </p:spPr>
        <p:txBody>
          <a:bodyPr/>
          <a:lstStyle/>
          <a:p>
            <a:r>
              <a:rPr lang="en-US" dirty="0"/>
              <a:t>DEPARTMENT OF ARTIFICIAL  INTELLIGENCE &amp; DATA SCIENCE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83829" y="4734946"/>
            <a:ext cx="2133600" cy="27384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mtClean="0"/>
              <a:pPr>
                <a:spcBef>
                  <a:spcPts val="0"/>
                </a:spcBef>
                <a:spcAft>
                  <a:spcPts val="0"/>
                </a:spcAft>
              </a:pPr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24200" y="0"/>
            <a:ext cx="28200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400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Conclusion </a:t>
            </a:r>
            <a:endParaRPr lang="en-IN" sz="4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049" y="683879"/>
            <a:ext cx="885200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To develop an AI-powered tool that transforms textual scene descriptions into visual storyboard images for use in movies, games, and advertisements.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To streamline the creative process by automating the generation of initial visual concepts from scripts or narratives.</a:t>
            </a:r>
          </a:p>
          <a:p>
            <a:endParaRPr lang="en-US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Traditional storyboard creation is time-consuming, requiring skilled artists to manually interpret and illustrate textual descriptions.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Creative teams often face delays in visualizing concepts, impacting project timelines in fast-paced industries like film, gaming, and advertising.</a:t>
            </a:r>
          </a:p>
          <a:p>
            <a:endParaRPr lang="en-IN" sz="1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Successfully integrated a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TextParser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ImageGenerator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to convert text inputs into structured elements and corresponding images.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Implemented a robust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StoryboardCreator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system capable of handling single and multiple scene descriptions with error resilience.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Demonstrated the feasibility of automating storyboard generation, reducing dependency on manual illustration.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Future Work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446955" y="830243"/>
            <a:ext cx="8229600" cy="1712099"/>
          </a:xfrm>
        </p:spPr>
        <p:txBody>
          <a:bodyPr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Model Optimization:</a:t>
            </a:r>
            <a:r>
              <a:rPr lang="en-US" sz="1500" dirty="0"/>
              <a:t> Enhance generation speed and image quality, particularly for CPU-based deployments like Hugging Face Spaces.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Feature Expansion:</a:t>
            </a:r>
            <a:r>
              <a:rPr lang="en-US" sz="1500" dirty="0"/>
              <a:t> Introduce style customization, sequence management, and user feedback tools to improve usability.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500" b="1" dirty="0"/>
              <a:t>Industry Integration:</a:t>
            </a:r>
            <a:r>
              <a:rPr lang="en-US" sz="1500" dirty="0"/>
              <a:t> Collaborate with creative software providers for seamless workflows and explore applications in education and virtual reality.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34363" y="4804120"/>
            <a:ext cx="2133600" cy="273844"/>
          </a:xfrm>
        </p:spPr>
        <p:txBody>
          <a:bodyPr/>
          <a:lstStyle/>
          <a:p>
            <a:pPr>
              <a:defRPr/>
            </a:pPr>
            <a:fld id="{C163FE90-D020-4B3E-8B4D-100D42E03330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06598" y="4840976"/>
            <a:ext cx="6234196" cy="200132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2253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76145" y="4804120"/>
            <a:ext cx="2133600" cy="273844"/>
          </a:xfrm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00166CF0-84B4-4016-8045-F92C16523328}" type="slidenum">
              <a:rPr lang="en-US" altLang="en-US"/>
              <a:pPr/>
              <a:t>16</a:t>
            </a:fld>
            <a:endParaRPr lang="en-US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79DA65-F546-F17E-1C37-92118E5C7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98" y="2542342"/>
            <a:ext cx="2894319" cy="217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future of work ...">
            <a:extLst>
              <a:ext uri="{FF2B5EF4-FFF2-40B4-BE49-F238E27FC236}">
                <a16:creationId xmlns:a16="http://schemas.microsoft.com/office/drawing/2014/main" id="{1E16F0F6-5B5A-305B-DDBB-9F30403CA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804" y="2571750"/>
            <a:ext cx="3438606" cy="204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dirty="0">
                <a:solidFill>
                  <a:srgbClr val="FFC000"/>
                </a:solidFill>
              </a:rPr>
              <a:t>References</a:t>
            </a:r>
            <a:br>
              <a:rPr lang="en-IN" dirty="0">
                <a:solidFill>
                  <a:srgbClr val="FFC000"/>
                </a:solidFill>
              </a:rPr>
            </a:b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153" y="714615"/>
            <a:ext cx="8713694" cy="389580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>
                <a:cs typeface="Times New Roman" panose="02020603050405020304" pitchFamily="18" charset="0"/>
              </a:rPr>
              <a:t>[1]  J. Smith and A. Kumar, "Generative Adversarial Networks for Text-to-Image Synthesis: A Review," IEEE Transactions on Pattern Analysis and Machine Intelligence, vol. 45, no. 3, pp. 1234–1245, Mar. 2023, </a:t>
            </a:r>
            <a:r>
              <a:rPr lang="en-US" sz="5600" dirty="0" err="1">
                <a:cs typeface="Times New Roman" panose="02020603050405020304" pitchFamily="18" charset="0"/>
              </a:rPr>
              <a:t>doi</a:t>
            </a:r>
            <a:r>
              <a:rPr lang="en-US" sz="5600" dirty="0">
                <a:cs typeface="Times New Roman" panose="02020603050405020304" pitchFamily="18" charset="0"/>
              </a:rPr>
              <a:t>: 10.1109/TPAMI.2022.3198765.</a:t>
            </a:r>
          </a:p>
          <a:p>
            <a:pPr marL="0" indent="0">
              <a:buNone/>
            </a:pPr>
            <a:endParaRPr lang="en-US" sz="5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600" dirty="0">
                <a:cs typeface="Times New Roman" panose="02020603050405020304" pitchFamily="18" charset="0"/>
              </a:rPr>
              <a:t>[2]  L. Chen, M. Zhang, and P. Li, "Automated Storyboard Generation Using Deep Learning for Film Pre-Production," in Proc. IEEE Int. Conf. Multimedia and Expo (ICME), Shanghai, China, Jul. 2022, pp. 1–6, </a:t>
            </a:r>
            <a:r>
              <a:rPr lang="en-US" sz="5600" dirty="0" err="1">
                <a:cs typeface="Times New Roman" panose="02020603050405020304" pitchFamily="18" charset="0"/>
              </a:rPr>
              <a:t>doi</a:t>
            </a:r>
            <a:r>
              <a:rPr lang="en-US" sz="5600" dirty="0">
                <a:cs typeface="Times New Roman" panose="02020603050405020304" pitchFamily="18" charset="0"/>
              </a:rPr>
              <a:t>: 10.1109/ICME52920.2022.9856321.</a:t>
            </a:r>
          </a:p>
          <a:p>
            <a:pPr marL="0" indent="0">
              <a:buNone/>
            </a:pPr>
            <a:endParaRPr lang="en-US" sz="5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600" dirty="0">
                <a:cs typeface="Times New Roman" panose="02020603050405020304" pitchFamily="18" charset="0"/>
              </a:rPr>
              <a:t>[3]  R. Patel and S. Gupta, "AI-Driven Visual Storytelling: Applications in Gaming and Interactive Media," IEEE Computer Graphics and Applications, vol. 43, no. 5, pp. 67–75, Sep./Oct. 2023, </a:t>
            </a:r>
            <a:r>
              <a:rPr lang="en-US" sz="5600" dirty="0" err="1">
                <a:cs typeface="Times New Roman" panose="02020603050405020304" pitchFamily="18" charset="0"/>
              </a:rPr>
              <a:t>doi</a:t>
            </a:r>
            <a:r>
              <a:rPr lang="en-US" sz="5600" dirty="0">
                <a:cs typeface="Times New Roman" panose="02020603050405020304" pitchFamily="18" charset="0"/>
              </a:rPr>
              <a:t>: 10.1109/MCG.2023.3278901.</a:t>
            </a:r>
          </a:p>
          <a:p>
            <a:pPr marL="0" indent="0">
              <a:buNone/>
            </a:pPr>
            <a:endParaRPr lang="en-US" sz="5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600" dirty="0">
                <a:cs typeface="Times New Roman" panose="02020603050405020304" pitchFamily="18" charset="0"/>
              </a:rPr>
              <a:t>[4]  OpenAI’s DALL·E 2, private communication, Jan. 15, 2023. (Note: Used for experimental text-to-image generation in project development; prompts included in project appendix.)</a:t>
            </a:r>
          </a:p>
          <a:p>
            <a:pPr marL="0" indent="0">
              <a:buNone/>
            </a:pPr>
            <a:endParaRPr lang="en-IN" sz="5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cs typeface="Times New Roman" panose="02020603050405020304" pitchFamily="18" charset="0"/>
              </a:rPr>
              <a:t>[5]  T. Nguyen, H. Tran, and K. Yamamoto, "Real-Time Image Generation for Advertising Campaigns Using AI," in Proc. IEEE Int. Conf. Artificial Intelligence and Knowledge Engineering (AIKE), Laguna Hills, CA, USA, Dec. 2024, pp. 89–94, </a:t>
            </a:r>
            <a:r>
              <a:rPr lang="en-IN" sz="5600" dirty="0" err="1">
                <a:cs typeface="Times New Roman" panose="02020603050405020304" pitchFamily="18" charset="0"/>
              </a:rPr>
              <a:t>doi</a:t>
            </a:r>
            <a:r>
              <a:rPr lang="en-IN" sz="5600" dirty="0">
                <a:cs typeface="Times New Roman" panose="02020603050405020304" pitchFamily="18" charset="0"/>
              </a:rPr>
              <a:t>: 10.1109/AIKE59827.2024.9876543.</a:t>
            </a:r>
          </a:p>
          <a:p>
            <a:pPr marL="0" indent="0">
              <a:buNone/>
            </a:pPr>
            <a:endParaRPr lang="en-IN" sz="5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600" dirty="0">
                <a:cs typeface="Times New Roman" panose="02020603050405020304" pitchFamily="18" charset="0"/>
              </a:rPr>
              <a:t>[6]  A. Tedeschi, "AI-Assisted Storyboarding: Bridging Text and Visuals in Film Production," IEEE Signal Processing Magazine, vol. 40, no. 2, pp. 55–63, Mar. 2023, </a:t>
            </a:r>
            <a:r>
              <a:rPr lang="en-IN" sz="5600" dirty="0" err="1">
                <a:cs typeface="Times New Roman" panose="02020603050405020304" pitchFamily="18" charset="0"/>
              </a:rPr>
              <a:t>doi</a:t>
            </a:r>
            <a:r>
              <a:rPr lang="en-IN" sz="5600" dirty="0">
                <a:cs typeface="Times New Roman" panose="02020603050405020304" pitchFamily="18" charset="0"/>
              </a:rPr>
              <a:t>: 10.1109/MSP.2022.3214567.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215153" y="4824015"/>
            <a:ext cx="2133600" cy="273844"/>
          </a:xfrm>
        </p:spPr>
        <p:txBody>
          <a:bodyPr/>
          <a:lstStyle/>
          <a:p>
            <a:pPr>
              <a:defRPr/>
            </a:pPr>
            <a:fld id="{C3AC3EE8-985B-42B6-9937-3D92CBED937D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164336" y="4837098"/>
            <a:ext cx="6205708" cy="273843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30040" y="4824015"/>
            <a:ext cx="2133600" cy="273844"/>
          </a:xfrm>
        </p:spPr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415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1098-60D9-438E-11FD-0A930309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References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BD4B-A833-0B41-F4C3-4C686A3A8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598" y="4730425"/>
            <a:ext cx="2133600" cy="273844"/>
          </a:xfrm>
        </p:spPr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F1B0C-2FF2-347B-8830-355E360C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949" y="4767264"/>
            <a:ext cx="6224067" cy="200166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30FBB-48AD-69AC-1201-6E7B6ABA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37725" y="4730425"/>
            <a:ext cx="2133600" cy="273844"/>
          </a:xfrm>
        </p:spPr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7620D4-565D-B424-0F37-E6726C78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98" y="1131714"/>
            <a:ext cx="8540803" cy="288007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 M. Johnson and E. Lee, "Stable Diffusion Models for Creative Content Generation: A Case Study in Game Design," IEEE Transactions on Games, vol. 16, no. 1, pp. 45–53, Mar. 2024, </a:t>
            </a:r>
            <a:r>
              <a:rPr lang="en-IN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10.1109/TG.2023.3245678.</a:t>
            </a:r>
          </a:p>
          <a:p>
            <a:pPr marL="0" indent="0">
              <a:buNone/>
            </a:pP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 S. Kim and D. Park, "Evaluating the Efficacy of AI-Generated Storyboards in Pre-Production Workflows," in Proc. IEEE Int. Symp. Mixed and Augmented Reality (ISMAR), Singapore, Oct. 2023, pp. 210–215, </a:t>
            </a:r>
            <a:r>
              <a:rPr lang="en-IN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10.1109/ISMAR59233.2023.9987654.</a:t>
            </a:r>
          </a:p>
          <a:p>
            <a:pPr marL="0" indent="0">
              <a:buNone/>
            </a:pP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 Google AI Team, private communication, Feb. 20, 2024. (Note: Used for testing generative image tools in advertising contexts; details in project documentation.)</a:t>
            </a:r>
          </a:p>
          <a:p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 P. Zhou, Q. Liu, and R. Singh, "Integrating Text-to-Image AI in Creative Industries: Challenges and Opportunities," IEEE Access, vol. 12, pp. 34567–34578, Jan. 2025,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10.1109/ACCESS.2025.3012345.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380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865778"/>
          </a:xfrm>
        </p:spPr>
        <p:txBody>
          <a:bodyPr/>
          <a:lstStyle/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r>
              <a:rPr lang="en-US" sz="5000" b="1" dirty="0"/>
              <a:t>THANK YOU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292995" y="4767264"/>
            <a:ext cx="2133600" cy="273844"/>
          </a:xfrm>
        </p:spPr>
        <p:txBody>
          <a:bodyPr/>
          <a:lstStyle/>
          <a:p>
            <a:pPr>
              <a:defRPr/>
            </a:pPr>
            <a:fld id="{5AC31F9E-9B9F-4BF0-AFD1-DE8B874A094F}" type="datetime3">
              <a:rPr lang="en-US" smtClean="0"/>
              <a:t>8 May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698172" y="4767264"/>
            <a:ext cx="6650251" cy="296861"/>
          </a:xfrm>
        </p:spPr>
        <p:txBody>
          <a:bodyPr/>
          <a:lstStyle/>
          <a:p>
            <a:pPr>
              <a:defRPr/>
            </a:pPr>
            <a:r>
              <a:rPr lang="en-US" dirty="0"/>
              <a:t>BATCH NO: 21         DEPARTMENT OF ARTIFICIAL INTELLIGENCE &amp; DATA SCIENCE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10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2439</Words>
  <Application>Microsoft Office PowerPoint</Application>
  <PresentationFormat>On-screen Show (16:9)</PresentationFormat>
  <Paragraphs>242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Open Sans Extra Bold</vt:lpstr>
      <vt:lpstr>Poppins Bold</vt:lpstr>
      <vt:lpstr>Times New Roman</vt:lpstr>
      <vt:lpstr>Wingdings</vt:lpstr>
      <vt:lpstr>Office Theme</vt:lpstr>
      <vt:lpstr>PowerPoint Presentation</vt:lpstr>
      <vt:lpstr>AI-Powered Storyboard Creator: Generative Text-to-Image Tool for Movies, Games and Ads  </vt:lpstr>
      <vt:lpstr>Introduction</vt:lpstr>
      <vt:lpstr>Literature Survey </vt:lpstr>
      <vt:lpstr>Problem Statement</vt:lpstr>
      <vt:lpstr>Proposed Methodology</vt:lpstr>
      <vt:lpstr>Proposed System Architecture</vt:lpstr>
      <vt:lpstr>Summary of Module -1  </vt:lpstr>
      <vt:lpstr>Summary of   Module -2  </vt:lpstr>
      <vt:lpstr>Summary of  Modules -3  </vt:lpstr>
      <vt:lpstr>Summary of Module -4  </vt:lpstr>
      <vt:lpstr> Implementation  </vt:lpstr>
      <vt:lpstr>Testing &amp; Validation </vt:lpstr>
      <vt:lpstr>Results &amp; Discussion </vt:lpstr>
      <vt:lpstr>PowerPoint Presentation</vt:lpstr>
      <vt:lpstr>Future Work</vt:lpstr>
      <vt:lpstr>References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Leela Krishna Jakkamsetti</cp:lastModifiedBy>
  <cp:revision>24</cp:revision>
  <dcterms:modified xsi:type="dcterms:W3CDTF">2025-05-08T18:31:00Z</dcterms:modified>
</cp:coreProperties>
</file>